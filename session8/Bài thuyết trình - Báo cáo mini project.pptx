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ITC Avant Garde Gothic" charset="1" panose="020B0502020202020204"/>
      <p:regular r:id="rId26"/>
    </p:embeddedFont>
    <p:embeddedFont>
      <p:font typeface="TT Fors" charset="1" panose="020B0003030001020000"/>
      <p:regular r:id="rId27"/>
    </p:embeddedFont>
    <p:embeddedFont>
      <p:font typeface="TT Fors Bold" charset="1" panose="020B000303000102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F3C88"/>
        </a:solidFill>
      </p:bgPr>
    </p:bg>
    <p:spTree>
      <p:nvGrpSpPr>
        <p:cNvPr id="1" name=""/>
        <p:cNvGrpSpPr/>
        <p:nvPr/>
      </p:nvGrpSpPr>
      <p:grpSpPr>
        <a:xfrm>
          <a:off x="0" y="0"/>
          <a:ext cx="0" cy="0"/>
          <a:chOff x="0" y="0"/>
          <a:chExt cx="0" cy="0"/>
        </a:xfrm>
      </p:grpSpPr>
      <p:grpSp>
        <p:nvGrpSpPr>
          <p:cNvPr name="Group 2" id="2"/>
          <p:cNvGrpSpPr/>
          <p:nvPr/>
        </p:nvGrpSpPr>
        <p:grpSpPr>
          <a:xfrm rot="0">
            <a:off x="11868150" y="0"/>
            <a:ext cx="6419850" cy="10287000"/>
            <a:chOff x="0" y="0"/>
            <a:chExt cx="994603" cy="1593725"/>
          </a:xfrm>
        </p:grpSpPr>
        <p:sp>
          <p:nvSpPr>
            <p:cNvPr name="Freeform 3" id="3"/>
            <p:cNvSpPr/>
            <p:nvPr/>
          </p:nvSpPr>
          <p:spPr>
            <a:xfrm flipH="false" flipV="false" rot="0">
              <a:off x="0" y="0"/>
              <a:ext cx="994603" cy="1593725"/>
            </a:xfrm>
            <a:custGeom>
              <a:avLst/>
              <a:gdLst/>
              <a:ahLst/>
              <a:cxnLst/>
              <a:rect r="r" b="b" t="t" l="l"/>
              <a:pathLst>
                <a:path h="1593725" w="994603">
                  <a:moveTo>
                    <a:pt x="0" y="0"/>
                  </a:moveTo>
                  <a:lnTo>
                    <a:pt x="994603" y="0"/>
                  </a:lnTo>
                  <a:lnTo>
                    <a:pt x="994603" y="1593725"/>
                  </a:lnTo>
                  <a:lnTo>
                    <a:pt x="0" y="1593725"/>
                  </a:lnTo>
                  <a:close/>
                </a:path>
              </a:pathLst>
            </a:custGeom>
            <a:blipFill>
              <a:blip r:embed="rId2"/>
              <a:stretch>
                <a:fillRect l="0" t="-126" r="0" b="-126"/>
              </a:stretch>
            </a:blipFill>
          </p:spPr>
        </p:sp>
      </p:grpSp>
      <p:grpSp>
        <p:nvGrpSpPr>
          <p:cNvPr name="Group 4" id="4"/>
          <p:cNvGrpSpPr/>
          <p:nvPr/>
        </p:nvGrpSpPr>
        <p:grpSpPr>
          <a:xfrm rot="0">
            <a:off x="666750" y="666750"/>
            <a:ext cx="9763125" cy="3682999"/>
            <a:chOff x="0" y="0"/>
            <a:chExt cx="13017500" cy="4910666"/>
          </a:xfrm>
        </p:grpSpPr>
        <p:sp>
          <p:nvSpPr>
            <p:cNvPr name="TextBox 5" id="5"/>
            <p:cNvSpPr txBox="true"/>
            <p:nvPr/>
          </p:nvSpPr>
          <p:spPr>
            <a:xfrm rot="0">
              <a:off x="0" y="1184275"/>
              <a:ext cx="13017500" cy="3726391"/>
            </a:xfrm>
            <a:prstGeom prst="rect">
              <a:avLst/>
            </a:prstGeom>
          </p:spPr>
          <p:txBody>
            <a:bodyPr anchor="t" rtlCol="false" tIns="0" lIns="0" bIns="0" rIns="0">
              <a:spAutoFit/>
            </a:bodyPr>
            <a:lstStyle/>
            <a:p>
              <a:pPr algn="l" marL="0" indent="0" lvl="0">
                <a:lnSpc>
                  <a:spcPts val="9999"/>
                </a:lnSpc>
              </a:pPr>
              <a:r>
                <a:rPr lang="en-US" sz="9999" spc="-299">
                  <a:solidFill>
                    <a:srgbClr val="F2F5F9"/>
                  </a:solidFill>
                  <a:latin typeface="ITC Avant Garde Gothic"/>
                  <a:ea typeface="ITC Avant Garde Gothic"/>
                  <a:cs typeface="ITC Avant Garde Gothic"/>
                  <a:sym typeface="ITC Avant Garde Gothic"/>
                </a:rPr>
                <a:t>Báo cáo mini project</a:t>
              </a:r>
            </a:p>
          </p:txBody>
        </p:sp>
        <p:sp>
          <p:nvSpPr>
            <p:cNvPr name="TextBox 6" id="6"/>
            <p:cNvSpPr txBox="true"/>
            <p:nvPr/>
          </p:nvSpPr>
          <p:spPr>
            <a:xfrm rot="0">
              <a:off x="0" y="-104775"/>
              <a:ext cx="13017500" cy="626322"/>
            </a:xfrm>
            <a:prstGeom prst="rect">
              <a:avLst/>
            </a:prstGeom>
          </p:spPr>
          <p:txBody>
            <a:bodyPr anchor="t" rtlCol="false" tIns="0" lIns="0" bIns="0" rIns="0">
              <a:spAutoFit/>
            </a:bodyPr>
            <a:lstStyle/>
            <a:p>
              <a:pPr algn="l" marL="0" indent="0" lvl="0">
                <a:lnSpc>
                  <a:spcPts val="3640"/>
                </a:lnSpc>
                <a:spcBef>
                  <a:spcPct val="0"/>
                </a:spcBef>
              </a:pPr>
              <a:r>
                <a:rPr lang="en-US" sz="2600">
                  <a:solidFill>
                    <a:srgbClr val="F2F5F9"/>
                  </a:solidFill>
                  <a:latin typeface="ITC Avant Garde Gothic"/>
                  <a:ea typeface="ITC Avant Garde Gothic"/>
                  <a:cs typeface="ITC Avant Garde Gothic"/>
                  <a:sym typeface="ITC Avant Garde Gothic"/>
                </a:rPr>
                <a:t>HỆ THỐNG QUẢN LÝ SINH VIÊN</a:t>
              </a:r>
            </a:p>
          </p:txBody>
        </p:sp>
      </p:grpSp>
      <p:sp>
        <p:nvSpPr>
          <p:cNvPr name="TextBox 7" id="7"/>
          <p:cNvSpPr txBox="true"/>
          <p:nvPr/>
        </p:nvSpPr>
        <p:spPr>
          <a:xfrm rot="0">
            <a:off x="666750" y="4499617"/>
            <a:ext cx="7194651" cy="2724785"/>
          </a:xfrm>
          <a:prstGeom prst="rect">
            <a:avLst/>
          </a:prstGeom>
        </p:spPr>
        <p:txBody>
          <a:bodyPr anchor="t" rtlCol="false" tIns="0" lIns="0" bIns="0" rIns="0">
            <a:spAutoFit/>
          </a:bodyPr>
          <a:lstStyle/>
          <a:p>
            <a:pPr algn="l">
              <a:lnSpc>
                <a:spcPts val="3640"/>
              </a:lnSpc>
            </a:pPr>
            <a:r>
              <a:rPr lang="en-US" sz="2600">
                <a:solidFill>
                  <a:srgbClr val="F2F5F9"/>
                </a:solidFill>
                <a:latin typeface="TT Fors"/>
                <a:ea typeface="TT Fors"/>
                <a:cs typeface="TT Fors"/>
                <a:sym typeface="TT Fors"/>
              </a:rPr>
              <a:t>Nguyễn Khắc Hưng(Nhóm Trưởng)</a:t>
            </a:r>
          </a:p>
          <a:p>
            <a:pPr algn="l">
              <a:lnSpc>
                <a:spcPts val="3640"/>
              </a:lnSpc>
            </a:pPr>
            <a:r>
              <a:rPr lang="en-US" sz="2600">
                <a:solidFill>
                  <a:srgbClr val="F2F5F9"/>
                </a:solidFill>
                <a:latin typeface="TT Fors"/>
                <a:ea typeface="TT Fors"/>
                <a:cs typeface="TT Fors"/>
                <a:sym typeface="TT Fors"/>
              </a:rPr>
              <a:t>Bùi Văn Phương(Nhóm Phó)</a:t>
            </a:r>
          </a:p>
          <a:p>
            <a:pPr algn="l">
              <a:lnSpc>
                <a:spcPts val="3640"/>
              </a:lnSpc>
            </a:pPr>
            <a:r>
              <a:rPr lang="en-US" sz="2600">
                <a:solidFill>
                  <a:srgbClr val="F2F5F9"/>
                </a:solidFill>
                <a:latin typeface="TT Fors"/>
                <a:ea typeface="TT Fors"/>
                <a:cs typeface="TT Fors"/>
                <a:sym typeface="TT Fors"/>
              </a:rPr>
              <a:t>Thái Hồng Đức</a:t>
            </a:r>
          </a:p>
          <a:p>
            <a:pPr algn="l">
              <a:lnSpc>
                <a:spcPts val="3640"/>
              </a:lnSpc>
            </a:pPr>
            <a:r>
              <a:rPr lang="en-US" sz="2600">
                <a:solidFill>
                  <a:srgbClr val="F2F5F9"/>
                </a:solidFill>
                <a:latin typeface="TT Fors"/>
                <a:ea typeface="TT Fors"/>
                <a:cs typeface="TT Fors"/>
                <a:sym typeface="TT Fors"/>
              </a:rPr>
              <a:t>Lê Trung Đông</a:t>
            </a:r>
          </a:p>
          <a:p>
            <a:pPr algn="l">
              <a:lnSpc>
                <a:spcPts val="3640"/>
              </a:lnSpc>
            </a:pPr>
            <a:r>
              <a:rPr lang="en-US" sz="2600">
                <a:solidFill>
                  <a:srgbClr val="F2F5F9"/>
                </a:solidFill>
                <a:latin typeface="TT Fors"/>
                <a:ea typeface="TT Fors"/>
                <a:cs typeface="TT Fors"/>
                <a:sym typeface="TT Fors"/>
              </a:rPr>
              <a:t>Hoàng Trung Dũng</a:t>
            </a:r>
          </a:p>
          <a:p>
            <a:pPr algn="l" marL="0" indent="0" lvl="0">
              <a:lnSpc>
                <a:spcPts val="3640"/>
              </a:lnSpc>
            </a:pPr>
            <a:r>
              <a:rPr lang="en-US" sz="2600">
                <a:solidFill>
                  <a:srgbClr val="F2F5F9"/>
                </a:solidFill>
                <a:latin typeface="TT Fors"/>
                <a:ea typeface="TT Fors"/>
                <a:cs typeface="TT Fors"/>
                <a:sym typeface="TT Fors"/>
              </a:rPr>
              <a:t>Đỗ Ngọc Dân</a:t>
            </a:r>
          </a:p>
        </p:txBody>
      </p:sp>
      <p:grpSp>
        <p:nvGrpSpPr>
          <p:cNvPr name="Group 8" id="8"/>
          <p:cNvGrpSpPr/>
          <p:nvPr/>
        </p:nvGrpSpPr>
        <p:grpSpPr>
          <a:xfrm rot="0">
            <a:off x="9444829" y="7829550"/>
            <a:ext cx="4846643" cy="1791955"/>
            <a:chOff x="0" y="0"/>
            <a:chExt cx="6462190" cy="2389273"/>
          </a:xfrm>
        </p:grpSpPr>
        <p:sp>
          <p:nvSpPr>
            <p:cNvPr name="Freeform 9" id="9"/>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TextBox 12" id="12"/>
          <p:cNvSpPr txBox="true"/>
          <p:nvPr/>
        </p:nvSpPr>
        <p:spPr>
          <a:xfrm rot="0">
            <a:off x="6628491" y="4499617"/>
            <a:ext cx="6069214" cy="895985"/>
          </a:xfrm>
          <a:prstGeom prst="rect">
            <a:avLst/>
          </a:prstGeom>
        </p:spPr>
        <p:txBody>
          <a:bodyPr anchor="t" rtlCol="false" tIns="0" lIns="0" bIns="0" rIns="0">
            <a:spAutoFit/>
          </a:bodyPr>
          <a:lstStyle/>
          <a:p>
            <a:pPr algn="l">
              <a:lnSpc>
                <a:spcPts val="3640"/>
              </a:lnSpc>
            </a:pPr>
            <a:r>
              <a:rPr lang="en-US" sz="2600">
                <a:solidFill>
                  <a:srgbClr val="F2F5F9"/>
                </a:solidFill>
                <a:latin typeface="TT Fors"/>
                <a:ea typeface="TT Fors"/>
                <a:cs typeface="TT Fors"/>
                <a:sym typeface="TT Fors"/>
              </a:rPr>
              <a:t>Giảng Viên: Phạm Tuấn Bình</a:t>
            </a:r>
          </a:p>
          <a:p>
            <a:pPr algn="l" marL="0" indent="0" lvl="0">
              <a:lnSpc>
                <a:spcPts val="3640"/>
              </a:lnSpc>
            </a:pPr>
            <a:r>
              <a:rPr lang="en-US" sz="2600">
                <a:solidFill>
                  <a:srgbClr val="F2F5F9"/>
                </a:solidFill>
                <a:latin typeface="TT Fors"/>
                <a:ea typeface="TT Fors"/>
                <a:cs typeface="TT Fors"/>
                <a:sym typeface="TT Fors"/>
              </a:rPr>
              <a:t>Trợ Giảng: Mai Xuân Chinh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F5F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1201400" cy="2162175"/>
            <a:chOff x="0" y="0"/>
            <a:chExt cx="14935200" cy="2882900"/>
          </a:xfrm>
        </p:grpSpPr>
        <p:sp>
          <p:nvSpPr>
            <p:cNvPr name="TextBox 3" id="3"/>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375A93"/>
                  </a:solidFill>
                  <a:latin typeface="ITC Avant Garde Gothic"/>
                  <a:ea typeface="ITC Avant Garde Gothic"/>
                  <a:cs typeface="ITC Avant Garde Gothic"/>
                  <a:sym typeface="ITC Avant Garde Gothic"/>
                </a:rPr>
                <a:t>Giới thiệu dự án</a:t>
              </a:r>
            </a:p>
          </p:txBody>
        </p:sp>
        <p:sp>
          <p:nvSpPr>
            <p:cNvPr name="TextBox 4" id="4"/>
            <p:cNvSpPr txBox="true"/>
            <p:nvPr/>
          </p:nvSpPr>
          <p:spPr>
            <a:xfrm rot="0">
              <a:off x="0" y="2235200"/>
              <a:ext cx="130175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75A93"/>
                  </a:solidFill>
                  <a:latin typeface="TT Fors"/>
                  <a:ea typeface="TT Fors"/>
                  <a:cs typeface="TT Fors"/>
                  <a:sym typeface="TT Fors"/>
                </a:rPr>
                <a:t>Mục đích và ý nghĩa</a:t>
              </a:r>
            </a:p>
          </p:txBody>
        </p:sp>
      </p:grpSp>
      <p:grpSp>
        <p:nvGrpSpPr>
          <p:cNvPr name="Group 5" id="5"/>
          <p:cNvGrpSpPr/>
          <p:nvPr/>
        </p:nvGrpSpPr>
        <p:grpSpPr>
          <a:xfrm rot="0">
            <a:off x="14744700" y="7829550"/>
            <a:ext cx="4846643" cy="1791955"/>
            <a:chOff x="0" y="0"/>
            <a:chExt cx="6462190" cy="2389273"/>
          </a:xfrm>
        </p:grpSpPr>
        <p:sp>
          <p:nvSpPr>
            <p:cNvPr name="Freeform 6" id="6"/>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9" id="9"/>
          <p:cNvSpPr txBox="true"/>
          <p:nvPr/>
        </p:nvSpPr>
        <p:spPr>
          <a:xfrm rot="0">
            <a:off x="666750" y="3359671"/>
            <a:ext cx="12123639" cy="2406469"/>
          </a:xfrm>
          <a:prstGeom prst="rect">
            <a:avLst/>
          </a:prstGeom>
        </p:spPr>
        <p:txBody>
          <a:bodyPr anchor="t" rtlCol="false" tIns="0" lIns="0" bIns="0" rIns="0">
            <a:spAutoFit/>
          </a:bodyPr>
          <a:lstStyle/>
          <a:p>
            <a:pPr algn="l">
              <a:lnSpc>
                <a:spcPts val="2669"/>
              </a:lnSpc>
              <a:spcBef>
                <a:spcPct val="0"/>
              </a:spcBef>
            </a:pPr>
            <a:r>
              <a:rPr lang="en-US" sz="2669" spc="-80">
                <a:solidFill>
                  <a:srgbClr val="375A93"/>
                </a:solidFill>
                <a:latin typeface="ITC Avant Garde Gothic"/>
                <a:ea typeface="ITC Avant Garde Gothic"/>
                <a:cs typeface="ITC Avant Garde Gothic"/>
                <a:sym typeface="ITC Avant Garde Gothic"/>
              </a:rPr>
              <a:t>Áp dụng kiến thức Java Core &amp; OOP vào bài toán quản lý sinh viên thực tế</a:t>
            </a:r>
          </a:p>
          <a:p>
            <a:pPr algn="l">
              <a:lnSpc>
                <a:spcPts val="2669"/>
              </a:lnSpc>
              <a:spcBef>
                <a:spcPct val="0"/>
              </a:spcBef>
            </a:pPr>
          </a:p>
          <a:p>
            <a:pPr algn="l">
              <a:lnSpc>
                <a:spcPts val="2669"/>
              </a:lnSpc>
              <a:spcBef>
                <a:spcPct val="0"/>
              </a:spcBef>
            </a:pPr>
            <a:r>
              <a:rPr lang="en-US" sz="2669" spc="-80">
                <a:solidFill>
                  <a:srgbClr val="375A93"/>
                </a:solidFill>
                <a:latin typeface="ITC Avant Garde Gothic"/>
                <a:ea typeface="ITC Avant Garde Gothic"/>
                <a:cs typeface="ITC Avant Garde Gothic"/>
                <a:sym typeface="ITC Avant Garde Gothic"/>
              </a:rPr>
              <a:t>Thực hành thiết kế class, object, mảng đối tượng và xử lý CRUD</a:t>
            </a:r>
          </a:p>
          <a:p>
            <a:pPr algn="l">
              <a:lnSpc>
                <a:spcPts val="2669"/>
              </a:lnSpc>
              <a:spcBef>
                <a:spcPct val="0"/>
              </a:spcBef>
            </a:pPr>
          </a:p>
          <a:p>
            <a:pPr algn="l">
              <a:lnSpc>
                <a:spcPts val="2669"/>
              </a:lnSpc>
              <a:spcBef>
                <a:spcPct val="0"/>
              </a:spcBef>
            </a:pPr>
            <a:r>
              <a:rPr lang="en-US" sz="2669" spc="-80">
                <a:solidFill>
                  <a:srgbClr val="375A93"/>
                </a:solidFill>
                <a:latin typeface="ITC Avant Garde Gothic"/>
                <a:ea typeface="ITC Avant Garde Gothic"/>
                <a:cs typeface="ITC Avant Garde Gothic"/>
                <a:sym typeface="ITC Avant Garde Gothic"/>
              </a:rPr>
              <a:t>Rèn luyện tư duy phân tích, logic và tổ chức chương trình</a:t>
            </a:r>
          </a:p>
          <a:p>
            <a:pPr algn="l">
              <a:lnSpc>
                <a:spcPts val="2669"/>
              </a:lnSpc>
              <a:spcBef>
                <a:spcPct val="0"/>
              </a:spcBef>
            </a:pPr>
          </a:p>
          <a:p>
            <a:pPr algn="l">
              <a:lnSpc>
                <a:spcPts val="2669"/>
              </a:lnSpc>
              <a:spcBef>
                <a:spcPct val="0"/>
              </a:spcBef>
            </a:pPr>
            <a:r>
              <a:rPr lang="en-US" sz="2669" spc="-80">
                <a:solidFill>
                  <a:srgbClr val="375A93"/>
                </a:solidFill>
                <a:latin typeface="ITC Avant Garde Gothic"/>
                <a:ea typeface="ITC Avant Garde Gothic"/>
                <a:cs typeface="ITC Avant Garde Gothic"/>
                <a:sym typeface="ITC Avant Garde Gothic"/>
              </a:rPr>
              <a:t>Tạo nền tảng cho việc phát triển các ứng dụng Java nâng cao trong tương lai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75A93"/>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6886575" cy="3442335"/>
            <a:chOff x="0" y="0"/>
            <a:chExt cx="9182100" cy="4589780"/>
          </a:xfrm>
        </p:grpSpPr>
        <p:sp>
          <p:nvSpPr>
            <p:cNvPr name="TextBox 3" id="3"/>
            <p:cNvSpPr txBox="true"/>
            <p:nvPr/>
          </p:nvSpPr>
          <p:spPr>
            <a:xfrm rot="0">
              <a:off x="0" y="1155700"/>
              <a:ext cx="9182100" cy="3434080"/>
            </a:xfrm>
            <a:prstGeom prst="rect">
              <a:avLst/>
            </a:prstGeom>
          </p:spPr>
          <p:txBody>
            <a:bodyPr anchor="t" rtlCol="false" tIns="0" lIns="0" bIns="0" rIns="0">
              <a:spAutoFit/>
            </a:bodyPr>
            <a:lstStyle/>
            <a:p>
              <a:pPr algn="l" marL="0" indent="0" lvl="0">
                <a:lnSpc>
                  <a:spcPts val="2940"/>
                </a:lnSpc>
              </a:pPr>
              <a:r>
                <a:rPr lang="en-US" sz="2100">
                  <a:solidFill>
                    <a:srgbClr val="F2F5F9"/>
                  </a:solidFill>
                  <a:latin typeface="TT Fors"/>
                  <a:ea typeface="TT Fors"/>
                  <a:cs typeface="TT Fors"/>
                  <a:sym typeface="TT Fors"/>
                </a:rPr>
                <a:t>Việc quản lý sinh viên bằng phương pháp thủ công và sử dụng Excel thường gây ra rất nhiều khó khăn. Các lỗi trong việc nhập dữ liệu, khó khăn trong việc tra cứu thông tin và khả năng mất mát dữ liệu là những vấn đề lớn. Hơn nữa, việc quản lý sinh viên trở nên phức tạp khi số lượng sinh viên gia tăng, làm giảm hiệu suất công việc của cán bộ quản lý.</a:t>
              </a:r>
            </a:p>
          </p:txBody>
        </p:sp>
        <p:sp>
          <p:nvSpPr>
            <p:cNvPr name="TextBox 4" id="4"/>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F2F5F9"/>
                  </a:solidFill>
                  <a:latin typeface="ITC Avant Garde Gothic"/>
                  <a:ea typeface="ITC Avant Garde Gothic"/>
                  <a:cs typeface="ITC Avant Garde Gothic"/>
                  <a:sym typeface="ITC Avant Garde Gothic"/>
                </a:rPr>
                <a:t>Hạn chế quản lý</a:t>
              </a:r>
            </a:p>
          </p:txBody>
        </p:sp>
      </p:grpSp>
      <p:grpSp>
        <p:nvGrpSpPr>
          <p:cNvPr name="Group 5" id="5"/>
          <p:cNvGrpSpPr/>
          <p:nvPr/>
        </p:nvGrpSpPr>
        <p:grpSpPr>
          <a:xfrm rot="0">
            <a:off x="9296400" y="5143500"/>
            <a:ext cx="6886575" cy="3442335"/>
            <a:chOff x="0" y="0"/>
            <a:chExt cx="9182100" cy="4589780"/>
          </a:xfrm>
        </p:grpSpPr>
        <p:sp>
          <p:nvSpPr>
            <p:cNvPr name="TextBox 6" id="6"/>
            <p:cNvSpPr txBox="true"/>
            <p:nvPr/>
          </p:nvSpPr>
          <p:spPr>
            <a:xfrm rot="0">
              <a:off x="0" y="1155700"/>
              <a:ext cx="9182100" cy="3434080"/>
            </a:xfrm>
            <a:prstGeom prst="rect">
              <a:avLst/>
            </a:prstGeom>
          </p:spPr>
          <p:txBody>
            <a:bodyPr anchor="t" rtlCol="false" tIns="0" lIns="0" bIns="0" rIns="0">
              <a:spAutoFit/>
            </a:bodyPr>
            <a:lstStyle/>
            <a:p>
              <a:pPr algn="l" marL="0" indent="0" lvl="0">
                <a:lnSpc>
                  <a:spcPts val="2940"/>
                </a:lnSpc>
              </a:pPr>
              <a:r>
                <a:rPr lang="en-US" sz="2100">
                  <a:solidFill>
                    <a:srgbClr val="F2F5F9"/>
                  </a:solidFill>
                  <a:latin typeface="TT Fors"/>
                  <a:ea typeface="TT Fors"/>
                  <a:cs typeface="TT Fors"/>
                  <a:sym typeface="TT Fors"/>
                </a:rPr>
                <a:t>Giải pháp tốt nhất để khắc phục các vấn đề trên là xây dựng một ứng dụng Java Console. Ứng dụng này sẽ cung cấp các chức năng quản lý sinh viên đầy đủ và hiệu quả, giúp lưu trữ dữ liệu một cách có tổ chức và dễ dàng truy xuất thông tin. Nhờ đó, việc quản lý sinh viên sẽ chính xác hơn và tiết kiệm thời gian cho cả sinh viên lẫn cán bộ quản lý.</a:t>
              </a:r>
            </a:p>
          </p:txBody>
        </p:sp>
        <p:sp>
          <p:nvSpPr>
            <p:cNvPr name="TextBox 7" id="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F2F5F9"/>
                  </a:solidFill>
                  <a:latin typeface="ITC Avant Garde Gothic"/>
                  <a:ea typeface="ITC Avant Garde Gothic"/>
                  <a:cs typeface="ITC Avant Garde Gothic"/>
                  <a:sym typeface="ITC Avant Garde Gothic"/>
                </a:rPr>
                <a:t>Giải pháp ứng dụng</a:t>
              </a:r>
            </a:p>
          </p:txBody>
        </p:sp>
      </p:grpSp>
      <p:grpSp>
        <p:nvGrpSpPr>
          <p:cNvPr name="Group 8" id="8"/>
          <p:cNvGrpSpPr/>
          <p:nvPr/>
        </p:nvGrpSpPr>
        <p:grpSpPr>
          <a:xfrm rot="0">
            <a:off x="666750" y="666750"/>
            <a:ext cx="11201400" cy="3171825"/>
            <a:chOff x="0" y="0"/>
            <a:chExt cx="14935200" cy="4229100"/>
          </a:xfrm>
        </p:grpSpPr>
        <p:sp>
          <p:nvSpPr>
            <p:cNvPr name="TextBox 9" id="9"/>
            <p:cNvSpPr txBox="true"/>
            <p:nvPr/>
          </p:nvSpPr>
          <p:spPr>
            <a:xfrm rot="0">
              <a:off x="0" y="-9525"/>
              <a:ext cx="14935200" cy="29728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2F5F9"/>
                  </a:solidFill>
                  <a:latin typeface="ITC Avant Garde Gothic"/>
                  <a:ea typeface="ITC Avant Garde Gothic"/>
                  <a:cs typeface="ITC Avant Garde Gothic"/>
                  <a:sym typeface="ITC Avant Garde Gothic"/>
                </a:rPr>
                <a:t>Đặt vấn đề và Giải pháp</a:t>
              </a:r>
            </a:p>
          </p:txBody>
        </p:sp>
        <p:sp>
          <p:nvSpPr>
            <p:cNvPr name="TextBox 10" id="10"/>
            <p:cNvSpPr txBox="true"/>
            <p:nvPr/>
          </p:nvSpPr>
          <p:spPr>
            <a:xfrm rot="0">
              <a:off x="0" y="35814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F2F5F9"/>
                  </a:solidFill>
                  <a:latin typeface="TT Fors"/>
                  <a:ea typeface="TT Fors"/>
                  <a:cs typeface="TT Fors"/>
                  <a:sym typeface="TT Fors"/>
                </a:rPr>
                <a:t>Hạn chế và cách khắc phục</a:t>
              </a:r>
            </a:p>
          </p:txBody>
        </p:sp>
      </p:grpSp>
      <p:grpSp>
        <p:nvGrpSpPr>
          <p:cNvPr name="Group 11" id="11"/>
          <p:cNvGrpSpPr/>
          <p:nvPr/>
        </p:nvGrpSpPr>
        <p:grpSpPr>
          <a:xfrm rot="0">
            <a:off x="15430959" y="752281"/>
            <a:ext cx="2190291" cy="809819"/>
            <a:chOff x="0" y="0"/>
            <a:chExt cx="2920388" cy="1079758"/>
          </a:xfrm>
        </p:grpSpPr>
        <p:sp>
          <p:nvSpPr>
            <p:cNvPr name="Freeform 12" id="12"/>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F3C88"/>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3695880" cy="4476750"/>
            <a:chOff x="0" y="0"/>
            <a:chExt cx="18261173" cy="5969000"/>
          </a:xfrm>
        </p:grpSpPr>
        <p:sp>
          <p:nvSpPr>
            <p:cNvPr name="TextBox 3" id="3"/>
            <p:cNvSpPr txBox="true"/>
            <p:nvPr/>
          </p:nvSpPr>
          <p:spPr>
            <a:xfrm rot="0">
              <a:off x="0" y="0"/>
              <a:ext cx="18261173" cy="1977260"/>
            </a:xfrm>
            <a:prstGeom prst="rect">
              <a:avLst/>
            </a:prstGeom>
          </p:spPr>
          <p:txBody>
            <a:bodyPr anchor="t" rtlCol="false" tIns="0" lIns="0" bIns="0" rIns="0">
              <a:spAutoFit/>
            </a:bodyPr>
            <a:lstStyle/>
            <a:p>
              <a:pPr algn="l" marL="0" indent="0" lvl="0">
                <a:lnSpc>
                  <a:spcPts val="9781"/>
                </a:lnSpc>
                <a:spcBef>
                  <a:spcPct val="0"/>
                </a:spcBef>
              </a:pPr>
              <a:r>
                <a:rPr lang="en-US" sz="9781" spc="-293" strike="noStrike" u="none">
                  <a:solidFill>
                    <a:srgbClr val="F2F5F9"/>
                  </a:solidFill>
                  <a:latin typeface="ITC Avant Garde Gothic"/>
                  <a:ea typeface="ITC Avant Garde Gothic"/>
                  <a:cs typeface="ITC Avant Garde Gothic"/>
                  <a:sym typeface="ITC Avant Garde Gothic"/>
                </a:rPr>
                <a:t>Mục tiêu và Phạm vi</a:t>
              </a:r>
            </a:p>
          </p:txBody>
        </p:sp>
        <p:sp>
          <p:nvSpPr>
            <p:cNvPr name="TextBox 4" id="4"/>
            <p:cNvSpPr txBox="true"/>
            <p:nvPr/>
          </p:nvSpPr>
          <p:spPr>
            <a:xfrm rot="0">
              <a:off x="0" y="4182008"/>
              <a:ext cx="13571654" cy="1786992"/>
            </a:xfrm>
            <a:prstGeom prst="rect">
              <a:avLst/>
            </a:prstGeom>
          </p:spPr>
          <p:txBody>
            <a:bodyPr anchor="t" rtlCol="false" tIns="0" lIns="0" bIns="0" rIns="0">
              <a:spAutoFit/>
            </a:bodyPr>
            <a:lstStyle/>
            <a:p>
              <a:pPr algn="l" marL="0" indent="0" lvl="0">
                <a:lnSpc>
                  <a:spcPts val="3594"/>
                </a:lnSpc>
              </a:pPr>
              <a:r>
                <a:rPr lang="en-US" sz="2567">
                  <a:solidFill>
                    <a:srgbClr val="F2F5F9"/>
                  </a:solidFill>
                  <a:latin typeface="TT Fors"/>
                  <a:ea typeface="TT Fors"/>
                  <a:cs typeface="TT Fors"/>
                  <a:sym typeface="TT Fors"/>
                </a:rPr>
                <a:t>Dự án này nhằm mục đích củng cố kiến thức </a:t>
              </a:r>
              <a:r>
                <a:rPr lang="en-US" b="true" sz="2567">
                  <a:solidFill>
                    <a:srgbClr val="F2F5F9"/>
                  </a:solidFill>
                  <a:latin typeface="TT Fors Bold"/>
                  <a:ea typeface="TT Fors Bold"/>
                  <a:cs typeface="TT Fors Bold"/>
                  <a:sym typeface="TT Fors Bold"/>
                </a:rPr>
                <a:t>Java Core</a:t>
              </a:r>
              <a:r>
                <a:rPr lang="en-US" sz="2567">
                  <a:solidFill>
                    <a:srgbClr val="F2F5F9"/>
                  </a:solidFill>
                  <a:latin typeface="TT Fors"/>
                  <a:ea typeface="TT Fors"/>
                  <a:cs typeface="TT Fors"/>
                  <a:sym typeface="TT Fors"/>
                </a:rPr>
                <a:t> và OOP, đồng thời phát triển một ứng dụng quản lý sinh viên đơn giản chạy trên Console mà không cần CSDL.</a:t>
              </a:r>
            </a:p>
          </p:txBody>
        </p:sp>
        <p:sp>
          <p:nvSpPr>
            <p:cNvPr name="TextBox 5" id="5"/>
            <p:cNvSpPr txBox="true"/>
            <p:nvPr/>
          </p:nvSpPr>
          <p:spPr>
            <a:xfrm rot="0">
              <a:off x="0" y="2742490"/>
              <a:ext cx="15916414" cy="782414"/>
            </a:xfrm>
            <a:prstGeom prst="rect">
              <a:avLst/>
            </a:prstGeom>
          </p:spPr>
          <p:txBody>
            <a:bodyPr anchor="t" rtlCol="false" tIns="0" lIns="0" bIns="0" rIns="0">
              <a:spAutoFit/>
            </a:bodyPr>
            <a:lstStyle/>
            <a:p>
              <a:pPr algn="l" marL="0" indent="0" lvl="0">
                <a:lnSpc>
                  <a:spcPts val="4695"/>
                </a:lnSpc>
                <a:spcBef>
                  <a:spcPct val="0"/>
                </a:spcBef>
              </a:pPr>
              <a:r>
                <a:rPr lang="en-US" sz="3912" spc="-117" strike="noStrike" u="none">
                  <a:solidFill>
                    <a:srgbClr val="F2F5F9"/>
                  </a:solidFill>
                  <a:latin typeface="TT Fors"/>
                  <a:ea typeface="TT Fors"/>
                  <a:cs typeface="TT Fors"/>
                  <a:sym typeface="TT Fors"/>
                </a:rPr>
                <a:t>Xác định và giới hạn</a:t>
              </a:r>
            </a:p>
          </p:txBody>
        </p:sp>
      </p:grpSp>
      <p:grpSp>
        <p:nvGrpSpPr>
          <p:cNvPr name="Group 6" id="6"/>
          <p:cNvGrpSpPr/>
          <p:nvPr/>
        </p:nvGrpSpPr>
        <p:grpSpPr>
          <a:xfrm rot="0">
            <a:off x="14744700" y="7829550"/>
            <a:ext cx="4846643" cy="1791955"/>
            <a:chOff x="0" y="0"/>
            <a:chExt cx="6462190" cy="2389273"/>
          </a:xfrm>
        </p:grpSpPr>
        <p:sp>
          <p:nvSpPr>
            <p:cNvPr name="Freeform 7" id="7"/>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5F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1201400" cy="3171825"/>
            <a:chOff x="0" y="0"/>
            <a:chExt cx="14935200" cy="4229100"/>
          </a:xfrm>
        </p:grpSpPr>
        <p:sp>
          <p:nvSpPr>
            <p:cNvPr name="TextBox 3" id="3"/>
            <p:cNvSpPr txBox="true"/>
            <p:nvPr/>
          </p:nvSpPr>
          <p:spPr>
            <a:xfrm rot="0">
              <a:off x="0" y="-9525"/>
              <a:ext cx="14935200" cy="29728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375A93"/>
                  </a:solidFill>
                  <a:latin typeface="ITC Avant Garde Gothic"/>
                  <a:ea typeface="ITC Avant Garde Gothic"/>
                  <a:cs typeface="ITC Avant Garde Gothic"/>
                  <a:sym typeface="ITC Avant Garde Gothic"/>
                </a:rPr>
                <a:t>Chức năng chính của hệ thống</a:t>
              </a:r>
            </a:p>
          </p:txBody>
        </p:sp>
        <p:sp>
          <p:nvSpPr>
            <p:cNvPr name="TextBox 4" id="4"/>
            <p:cNvSpPr txBox="true"/>
            <p:nvPr/>
          </p:nvSpPr>
          <p:spPr>
            <a:xfrm rot="0">
              <a:off x="0" y="3581400"/>
              <a:ext cx="130175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75A93"/>
                  </a:solidFill>
                  <a:latin typeface="TT Fors"/>
                  <a:ea typeface="TT Fors"/>
                  <a:cs typeface="TT Fors"/>
                  <a:sym typeface="TT Fors"/>
                </a:rPr>
                <a:t>Các nhóm chức năng quản lý sinh viên</a:t>
              </a:r>
            </a:p>
          </p:txBody>
        </p:sp>
      </p:grpSp>
      <p:grpSp>
        <p:nvGrpSpPr>
          <p:cNvPr name="Group 5" id="5"/>
          <p:cNvGrpSpPr/>
          <p:nvPr/>
        </p:nvGrpSpPr>
        <p:grpSpPr>
          <a:xfrm rot="0">
            <a:off x="14744700" y="7829550"/>
            <a:ext cx="4846643" cy="1791955"/>
            <a:chOff x="0" y="0"/>
            <a:chExt cx="6462190" cy="2389273"/>
          </a:xfrm>
        </p:grpSpPr>
        <p:sp>
          <p:nvSpPr>
            <p:cNvPr name="Freeform 6" id="6"/>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75A93"/>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3245858" cy="5523581"/>
            <a:chOff x="0" y="0"/>
            <a:chExt cx="17661144" cy="7364775"/>
          </a:xfrm>
        </p:grpSpPr>
        <p:sp>
          <p:nvSpPr>
            <p:cNvPr name="TextBox 3" id="3"/>
            <p:cNvSpPr txBox="true"/>
            <p:nvPr/>
          </p:nvSpPr>
          <p:spPr>
            <a:xfrm rot="0">
              <a:off x="0" y="-9525"/>
              <a:ext cx="17661144" cy="3513721"/>
            </a:xfrm>
            <a:prstGeom prst="rect">
              <a:avLst/>
            </a:prstGeom>
          </p:spPr>
          <p:txBody>
            <a:bodyPr anchor="t" rtlCol="false" tIns="0" lIns="0" bIns="0" rIns="0">
              <a:spAutoFit/>
            </a:bodyPr>
            <a:lstStyle/>
            <a:p>
              <a:pPr algn="l" marL="0" indent="0" lvl="0">
                <a:lnSpc>
                  <a:spcPts val="9460"/>
                </a:lnSpc>
                <a:spcBef>
                  <a:spcPct val="0"/>
                </a:spcBef>
              </a:pPr>
              <a:r>
                <a:rPr lang="en-US" sz="9460" spc="-283" strike="noStrike" u="none">
                  <a:solidFill>
                    <a:srgbClr val="F2F5F9"/>
                  </a:solidFill>
                  <a:latin typeface="ITC Avant Garde Gothic"/>
                  <a:ea typeface="ITC Avant Garde Gothic"/>
                  <a:cs typeface="ITC Avant Garde Gothic"/>
                  <a:sym typeface="ITC Avant Garde Gothic"/>
                </a:rPr>
                <a:t>Chức năng thêm sinh viên</a:t>
              </a:r>
            </a:p>
          </p:txBody>
        </p:sp>
        <p:sp>
          <p:nvSpPr>
            <p:cNvPr name="TextBox 4" id="4"/>
            <p:cNvSpPr txBox="true"/>
            <p:nvPr/>
          </p:nvSpPr>
          <p:spPr>
            <a:xfrm rot="0">
              <a:off x="0" y="5653672"/>
              <a:ext cx="13125714" cy="1711103"/>
            </a:xfrm>
            <a:prstGeom prst="rect">
              <a:avLst/>
            </a:prstGeom>
          </p:spPr>
          <p:txBody>
            <a:bodyPr anchor="t" rtlCol="false" tIns="0" lIns="0" bIns="0" rIns="0">
              <a:spAutoFit/>
            </a:bodyPr>
            <a:lstStyle/>
            <a:p>
              <a:pPr algn="l" marL="0" indent="0" lvl="0">
                <a:lnSpc>
                  <a:spcPts val="3476"/>
                </a:lnSpc>
              </a:pPr>
              <a:r>
                <a:rPr lang="en-US" sz="2483">
                  <a:solidFill>
                    <a:srgbClr val="F2F5F9"/>
                  </a:solidFill>
                  <a:latin typeface="TT Fors"/>
                  <a:ea typeface="TT Fors"/>
                  <a:cs typeface="TT Fors"/>
                  <a:sym typeface="TT Fors"/>
                </a:rPr>
                <a:t>Chức năng thêm sinh viên cho phép nhập thông tin, kiểm tra trùng mã sinh viên, validate tuổi và điểm, tự động tính điểm trung bình, và phân loại sinh viên theo kết quả học tập.</a:t>
              </a:r>
            </a:p>
          </p:txBody>
        </p:sp>
        <p:sp>
          <p:nvSpPr>
            <p:cNvPr name="TextBox 5" id="5"/>
            <p:cNvSpPr txBox="true"/>
            <p:nvPr/>
          </p:nvSpPr>
          <p:spPr>
            <a:xfrm rot="0">
              <a:off x="0" y="4235070"/>
              <a:ext cx="15393429" cy="765917"/>
            </a:xfrm>
            <a:prstGeom prst="rect">
              <a:avLst/>
            </a:prstGeom>
          </p:spPr>
          <p:txBody>
            <a:bodyPr anchor="t" rtlCol="false" tIns="0" lIns="0" bIns="0" rIns="0">
              <a:spAutoFit/>
            </a:bodyPr>
            <a:lstStyle/>
            <a:p>
              <a:pPr algn="l" marL="0" indent="0" lvl="0">
                <a:lnSpc>
                  <a:spcPts val="4540"/>
                </a:lnSpc>
                <a:spcBef>
                  <a:spcPct val="0"/>
                </a:spcBef>
              </a:pPr>
              <a:r>
                <a:rPr lang="en-US" sz="3784" spc="-113" strike="noStrike" u="none">
                  <a:solidFill>
                    <a:srgbClr val="F2F5F9"/>
                  </a:solidFill>
                  <a:latin typeface="TT Fors"/>
                  <a:ea typeface="TT Fors"/>
                  <a:cs typeface="TT Fors"/>
                  <a:sym typeface="TT Fors"/>
                </a:rPr>
                <a:t>Quy trình và kiểm tra</a:t>
              </a:r>
            </a:p>
          </p:txBody>
        </p:sp>
      </p:grpSp>
      <p:grpSp>
        <p:nvGrpSpPr>
          <p:cNvPr name="Group 6" id="6"/>
          <p:cNvGrpSpPr/>
          <p:nvPr/>
        </p:nvGrpSpPr>
        <p:grpSpPr>
          <a:xfrm rot="0">
            <a:off x="14744700" y="7829550"/>
            <a:ext cx="4846643" cy="1791955"/>
            <a:chOff x="0" y="0"/>
            <a:chExt cx="6462190" cy="2389273"/>
          </a:xfrm>
        </p:grpSpPr>
        <p:sp>
          <p:nvSpPr>
            <p:cNvPr name="Freeform 7" id="7"/>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F3C88"/>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6886575" cy="2699385"/>
            <a:chOff x="0" y="0"/>
            <a:chExt cx="9182100" cy="3599180"/>
          </a:xfrm>
        </p:grpSpPr>
        <p:sp>
          <p:nvSpPr>
            <p:cNvPr name="TextBox 3" id="3"/>
            <p:cNvSpPr txBox="true"/>
            <p:nvPr/>
          </p:nvSpPr>
          <p:spPr>
            <a:xfrm rot="0">
              <a:off x="0" y="1155700"/>
              <a:ext cx="9182100" cy="2443480"/>
            </a:xfrm>
            <a:prstGeom prst="rect">
              <a:avLst/>
            </a:prstGeom>
          </p:spPr>
          <p:txBody>
            <a:bodyPr anchor="t" rtlCol="false" tIns="0" lIns="0" bIns="0" rIns="0">
              <a:spAutoFit/>
            </a:bodyPr>
            <a:lstStyle/>
            <a:p>
              <a:pPr algn="l" marL="0" indent="0" lvl="0">
                <a:lnSpc>
                  <a:spcPts val="2940"/>
                </a:lnSpc>
              </a:pPr>
              <a:r>
                <a:rPr lang="en-US" sz="2100">
                  <a:solidFill>
                    <a:srgbClr val="F2F5F9"/>
                  </a:solidFill>
                  <a:latin typeface="TT Fors"/>
                  <a:ea typeface="TT Fors"/>
                  <a:cs typeface="TT Fors"/>
                  <a:sym typeface="TT Fors"/>
                </a:rPr>
                <a:t>Hệ thống cho phép </a:t>
              </a:r>
              <a:r>
                <a:rPr lang="en-US" b="true" sz="2100">
                  <a:solidFill>
                    <a:srgbClr val="F2F5F9"/>
                  </a:solidFill>
                  <a:latin typeface="TT Fors Bold"/>
                  <a:ea typeface="TT Fors Bold"/>
                  <a:cs typeface="TT Fors Bold"/>
                  <a:sym typeface="TT Fors Bold"/>
                </a:rPr>
                <a:t>người dùng dễ dàng</a:t>
              </a:r>
              <a:r>
                <a:rPr lang="en-US" sz="2100">
                  <a:solidFill>
                    <a:srgbClr val="F2F5F9"/>
                  </a:solidFill>
                  <a:latin typeface="TT Fors"/>
                  <a:ea typeface="TT Fors"/>
                  <a:cs typeface="TT Fors"/>
                  <a:sym typeface="TT Fors"/>
                </a:rPr>
                <a:t> xem danh sách sinh viên đã được thêm vào. Thông tin sẽ được hiển thị dưới dạng bảng, bao gồm mã sinh viên, tên, tuổi, và điểm số. Người dùng có thể nhanh chóng duyệt qua và nhận diện thông tin của từng sinh viên.</a:t>
              </a:r>
            </a:p>
          </p:txBody>
        </p:sp>
        <p:sp>
          <p:nvSpPr>
            <p:cNvPr name="TextBox 4" id="4"/>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F2F5F9"/>
                  </a:solidFill>
                  <a:latin typeface="ITC Avant Garde Gothic"/>
                  <a:ea typeface="ITC Avant Garde Gothic"/>
                  <a:cs typeface="ITC Avant Garde Gothic"/>
                  <a:sym typeface="ITC Avant Garde Gothic"/>
                </a:rPr>
                <a:t>Danh sách sinh viên</a:t>
              </a:r>
            </a:p>
          </p:txBody>
        </p:sp>
      </p:grpSp>
      <p:grpSp>
        <p:nvGrpSpPr>
          <p:cNvPr name="Group 5" id="5"/>
          <p:cNvGrpSpPr/>
          <p:nvPr/>
        </p:nvGrpSpPr>
        <p:grpSpPr>
          <a:xfrm rot="0">
            <a:off x="9296400" y="5143500"/>
            <a:ext cx="6886575" cy="2699385"/>
            <a:chOff x="0" y="0"/>
            <a:chExt cx="9182100" cy="3599180"/>
          </a:xfrm>
        </p:grpSpPr>
        <p:sp>
          <p:nvSpPr>
            <p:cNvPr name="TextBox 6" id="6"/>
            <p:cNvSpPr txBox="true"/>
            <p:nvPr/>
          </p:nvSpPr>
          <p:spPr>
            <a:xfrm rot="0">
              <a:off x="0" y="1155700"/>
              <a:ext cx="9182100" cy="2443480"/>
            </a:xfrm>
            <a:prstGeom prst="rect">
              <a:avLst/>
            </a:prstGeom>
          </p:spPr>
          <p:txBody>
            <a:bodyPr anchor="t" rtlCol="false" tIns="0" lIns="0" bIns="0" rIns="0">
              <a:spAutoFit/>
            </a:bodyPr>
            <a:lstStyle/>
            <a:p>
              <a:pPr algn="l" marL="0" indent="0" lvl="0">
                <a:lnSpc>
                  <a:spcPts val="2940"/>
                </a:lnSpc>
              </a:pPr>
              <a:r>
                <a:rPr lang="en-US" sz="2100">
                  <a:solidFill>
                    <a:srgbClr val="F2F5F9"/>
                  </a:solidFill>
                  <a:latin typeface="TT Fors"/>
                  <a:ea typeface="TT Fors"/>
                  <a:cs typeface="TT Fors"/>
                  <a:sym typeface="TT Fors"/>
                </a:rPr>
                <a:t>Tính năng tìm kiếm cho phép người dùng </a:t>
              </a:r>
              <a:r>
                <a:rPr lang="en-US" b="true" sz="2100">
                  <a:solidFill>
                    <a:srgbClr val="F2F5F9"/>
                  </a:solidFill>
                  <a:latin typeface="TT Fors Bold"/>
                  <a:ea typeface="TT Fors Bold"/>
                  <a:cs typeface="TT Fors Bold"/>
                  <a:sym typeface="TT Fors Bold"/>
                </a:rPr>
                <a:t>tìm kiếm thông tin</a:t>
              </a:r>
              <a:r>
                <a:rPr lang="en-US" sz="2100">
                  <a:solidFill>
                    <a:srgbClr val="F2F5F9"/>
                  </a:solidFill>
                  <a:latin typeface="TT Fors"/>
                  <a:ea typeface="TT Fors"/>
                  <a:cs typeface="TT Fors"/>
                  <a:sym typeface="TT Fors"/>
                </a:rPr>
                <a:t> sinh viên theo mã chính xác hoặc tên mờ. Điều này giúp tiết kiệm thời gian, đặc biệt khi có nhiều sinh viên trong danh sách, đảm bảo việc quản lý thông tin diễn ra hiệu quả hơn.</a:t>
              </a:r>
            </a:p>
          </p:txBody>
        </p:sp>
        <p:sp>
          <p:nvSpPr>
            <p:cNvPr name="TextBox 7" id="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F2F5F9"/>
                  </a:solidFill>
                  <a:latin typeface="ITC Avant Garde Gothic"/>
                  <a:ea typeface="ITC Avant Garde Gothic"/>
                  <a:cs typeface="ITC Avant Garde Gothic"/>
                  <a:sym typeface="ITC Avant Garde Gothic"/>
                </a:rPr>
                <a:t>Tìm kiếm sinh viên</a:t>
              </a:r>
            </a:p>
          </p:txBody>
        </p:sp>
      </p:grpSp>
      <p:grpSp>
        <p:nvGrpSpPr>
          <p:cNvPr name="Group 8" id="8"/>
          <p:cNvGrpSpPr/>
          <p:nvPr/>
        </p:nvGrpSpPr>
        <p:grpSpPr>
          <a:xfrm rot="0">
            <a:off x="666750" y="666750"/>
            <a:ext cx="11201400" cy="2162175"/>
            <a:chOff x="0" y="0"/>
            <a:chExt cx="14935200" cy="2882900"/>
          </a:xfrm>
        </p:grpSpPr>
        <p:sp>
          <p:nvSpPr>
            <p:cNvPr name="TextBox 9" id="9"/>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2F5F9"/>
                  </a:solidFill>
                  <a:latin typeface="ITC Avant Garde Gothic"/>
                  <a:ea typeface="ITC Avant Garde Gothic"/>
                  <a:cs typeface="ITC Avant Garde Gothic"/>
                  <a:sym typeface="ITC Avant Garde Gothic"/>
                </a:rPr>
                <a:t>Hiển thị danh sách</a:t>
              </a:r>
            </a:p>
          </p:txBody>
        </p:sp>
        <p:sp>
          <p:nvSpPr>
            <p:cNvPr name="TextBox 10" id="10"/>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F2F5F9"/>
                  </a:solidFill>
                  <a:latin typeface="TT Fors"/>
                  <a:ea typeface="TT Fors"/>
                  <a:cs typeface="TT Fors"/>
                  <a:sym typeface="TT Fors"/>
                </a:rPr>
                <a:t>và tìm kiếm sinh viên</a:t>
              </a:r>
            </a:p>
          </p:txBody>
        </p:sp>
      </p:grpSp>
      <p:grpSp>
        <p:nvGrpSpPr>
          <p:cNvPr name="Group 11" id="11"/>
          <p:cNvGrpSpPr/>
          <p:nvPr/>
        </p:nvGrpSpPr>
        <p:grpSpPr>
          <a:xfrm rot="0">
            <a:off x="15430959" y="752281"/>
            <a:ext cx="2190291" cy="809819"/>
            <a:chOff x="0" y="0"/>
            <a:chExt cx="2920388" cy="1079758"/>
          </a:xfrm>
        </p:grpSpPr>
        <p:sp>
          <p:nvSpPr>
            <p:cNvPr name="Freeform 12" id="12"/>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F5F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3425258" cy="5598392"/>
            <a:chOff x="0" y="0"/>
            <a:chExt cx="17900344" cy="7464522"/>
          </a:xfrm>
        </p:grpSpPr>
        <p:sp>
          <p:nvSpPr>
            <p:cNvPr name="TextBox 3" id="3"/>
            <p:cNvSpPr txBox="true"/>
            <p:nvPr/>
          </p:nvSpPr>
          <p:spPr>
            <a:xfrm rot="0">
              <a:off x="0" y="-9525"/>
              <a:ext cx="17900344" cy="3561181"/>
            </a:xfrm>
            <a:prstGeom prst="rect">
              <a:avLst/>
            </a:prstGeom>
          </p:spPr>
          <p:txBody>
            <a:bodyPr anchor="t" rtlCol="false" tIns="0" lIns="0" bIns="0" rIns="0">
              <a:spAutoFit/>
            </a:bodyPr>
            <a:lstStyle/>
            <a:p>
              <a:pPr algn="l" marL="0" indent="0" lvl="0">
                <a:lnSpc>
                  <a:spcPts val="9588"/>
                </a:lnSpc>
                <a:spcBef>
                  <a:spcPct val="0"/>
                </a:spcBef>
              </a:pPr>
              <a:r>
                <a:rPr lang="en-US" sz="9588" spc="-287" strike="noStrike" u="none">
                  <a:solidFill>
                    <a:srgbClr val="375A93"/>
                  </a:solidFill>
                  <a:latin typeface="ITC Avant Garde Gothic"/>
                  <a:ea typeface="ITC Avant Garde Gothic"/>
                  <a:cs typeface="ITC Avant Garde Gothic"/>
                  <a:sym typeface="ITC Avant Garde Gothic"/>
                </a:rPr>
                <a:t>Cập nhật và xóa sinh viên</a:t>
              </a:r>
            </a:p>
          </p:txBody>
        </p:sp>
        <p:sp>
          <p:nvSpPr>
            <p:cNvPr name="TextBox 4" id="4"/>
            <p:cNvSpPr txBox="true"/>
            <p:nvPr/>
          </p:nvSpPr>
          <p:spPr>
            <a:xfrm rot="0">
              <a:off x="0" y="5711711"/>
              <a:ext cx="13303487" cy="1752812"/>
            </a:xfrm>
            <a:prstGeom prst="rect">
              <a:avLst/>
            </a:prstGeom>
          </p:spPr>
          <p:txBody>
            <a:bodyPr anchor="t" rtlCol="false" tIns="0" lIns="0" bIns="0" rIns="0">
              <a:spAutoFit/>
            </a:bodyPr>
            <a:lstStyle/>
            <a:p>
              <a:pPr algn="l" marL="0" indent="0" lvl="0">
                <a:lnSpc>
                  <a:spcPts val="3523"/>
                </a:lnSpc>
              </a:pPr>
              <a:r>
                <a:rPr lang="en-US" sz="2516">
                  <a:solidFill>
                    <a:srgbClr val="375A93"/>
                  </a:solidFill>
                  <a:latin typeface="TT Fors"/>
                  <a:ea typeface="TT Fors"/>
                  <a:cs typeface="TT Fors"/>
                  <a:sym typeface="TT Fors"/>
                </a:rPr>
                <a:t>Để đảm bảo tính chính xác, hệ thống cho phép </a:t>
              </a:r>
              <a:r>
                <a:rPr lang="en-US" b="true" sz="2516">
                  <a:solidFill>
                    <a:srgbClr val="375A93"/>
                  </a:solidFill>
                  <a:latin typeface="TT Fors Bold"/>
                  <a:ea typeface="TT Fors Bold"/>
                  <a:cs typeface="TT Fors Bold"/>
                  <a:sym typeface="TT Fors Bold"/>
                </a:rPr>
                <a:t>cập nhật</a:t>
              </a:r>
              <a:r>
                <a:rPr lang="en-US" sz="2516">
                  <a:solidFill>
                    <a:srgbClr val="375A93"/>
                  </a:solidFill>
                  <a:latin typeface="TT Fors"/>
                  <a:ea typeface="TT Fors"/>
                  <a:cs typeface="TT Fors"/>
                  <a:sym typeface="TT Fors"/>
                </a:rPr>
                <a:t> thông tin sinh viên mà không thay đổi mã, cũng như </a:t>
              </a:r>
              <a:r>
                <a:rPr lang="en-US" b="true" sz="2516">
                  <a:solidFill>
                    <a:srgbClr val="375A93"/>
                  </a:solidFill>
                  <a:latin typeface="TT Fors Bold"/>
                  <a:ea typeface="TT Fors Bold"/>
                  <a:cs typeface="TT Fors Bold"/>
                  <a:sym typeface="TT Fors Bold"/>
                </a:rPr>
                <a:t>xóa</a:t>
              </a:r>
              <a:r>
                <a:rPr lang="en-US" sz="2516">
                  <a:solidFill>
                    <a:srgbClr val="375A93"/>
                  </a:solidFill>
                  <a:latin typeface="TT Fors"/>
                  <a:ea typeface="TT Fors"/>
                  <a:cs typeface="TT Fors"/>
                  <a:sym typeface="TT Fors"/>
                </a:rPr>
                <a:t> sinh viên thông qua xác nhận và dịch chuyển mảng.</a:t>
              </a:r>
            </a:p>
          </p:txBody>
        </p:sp>
        <p:sp>
          <p:nvSpPr>
            <p:cNvPr name="TextBox 5" id="5"/>
            <p:cNvSpPr txBox="true"/>
            <p:nvPr/>
          </p:nvSpPr>
          <p:spPr>
            <a:xfrm rot="0">
              <a:off x="0" y="4292429"/>
              <a:ext cx="15601915" cy="776290"/>
            </a:xfrm>
            <a:prstGeom prst="rect">
              <a:avLst/>
            </a:prstGeom>
          </p:spPr>
          <p:txBody>
            <a:bodyPr anchor="t" rtlCol="false" tIns="0" lIns="0" bIns="0" rIns="0">
              <a:spAutoFit/>
            </a:bodyPr>
            <a:lstStyle/>
            <a:p>
              <a:pPr algn="l" marL="0" indent="0" lvl="0">
                <a:lnSpc>
                  <a:spcPts val="4602"/>
                </a:lnSpc>
                <a:spcBef>
                  <a:spcPct val="0"/>
                </a:spcBef>
              </a:pPr>
              <a:r>
                <a:rPr lang="en-US" sz="3835" spc="-115" strike="noStrike" u="none">
                  <a:solidFill>
                    <a:srgbClr val="375A93"/>
                  </a:solidFill>
                  <a:latin typeface="TT Fors"/>
                  <a:ea typeface="TT Fors"/>
                  <a:cs typeface="TT Fors"/>
                  <a:sym typeface="TT Fors"/>
                </a:rPr>
                <a:t>Quản lý thông tin hiệu quả</a:t>
              </a:r>
            </a:p>
          </p:txBody>
        </p:sp>
      </p:grpSp>
      <p:grpSp>
        <p:nvGrpSpPr>
          <p:cNvPr name="Group 6" id="6"/>
          <p:cNvGrpSpPr/>
          <p:nvPr/>
        </p:nvGrpSpPr>
        <p:grpSpPr>
          <a:xfrm rot="0">
            <a:off x="14744700" y="7829550"/>
            <a:ext cx="4846643" cy="1791955"/>
            <a:chOff x="0" y="0"/>
            <a:chExt cx="6462190" cy="2389273"/>
          </a:xfrm>
        </p:grpSpPr>
        <p:sp>
          <p:nvSpPr>
            <p:cNvPr name="Freeform 7" id="7"/>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75A93"/>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6886575" cy="3057525"/>
            <a:chOff x="0" y="0"/>
            <a:chExt cx="9182100" cy="4076700"/>
          </a:xfrm>
        </p:grpSpPr>
        <p:sp>
          <p:nvSpPr>
            <p:cNvPr name="TextBox 3" id="3"/>
            <p:cNvSpPr txBox="true"/>
            <p:nvPr/>
          </p:nvSpPr>
          <p:spPr>
            <a:xfrm rot="0">
              <a:off x="0" y="-9525"/>
              <a:ext cx="9182100" cy="29728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2F5F9"/>
                  </a:solidFill>
                  <a:latin typeface="ITC Avant Garde Gothic"/>
                  <a:ea typeface="ITC Avant Garde Gothic"/>
                  <a:cs typeface="ITC Avant Garde Gothic"/>
                  <a:sym typeface="ITC Avant Garde Gothic"/>
                </a:rPr>
                <a:t>Tính điểm trung bình</a:t>
              </a:r>
            </a:p>
          </p:txBody>
        </p:sp>
        <p:sp>
          <p:nvSpPr>
            <p:cNvPr name="TextBox 4" id="4"/>
            <p:cNvSpPr txBox="true"/>
            <p:nvPr/>
          </p:nvSpPr>
          <p:spPr>
            <a:xfrm rot="0">
              <a:off x="0" y="3362325"/>
              <a:ext cx="9182100" cy="714375"/>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F2F5F9"/>
                  </a:solidFill>
                  <a:latin typeface="ITC Avant Garde Gothic"/>
                  <a:ea typeface="ITC Avant Garde Gothic"/>
                  <a:cs typeface="ITC Avant Garde Gothic"/>
                  <a:sym typeface="ITC Avant Garde Gothic"/>
                </a:rPr>
                <a:t>Quy tắc và điều kiện xếp loại sinh viên</a:t>
              </a:r>
            </a:p>
          </p:txBody>
        </p:sp>
      </p:grpSp>
      <p:grpSp>
        <p:nvGrpSpPr>
          <p:cNvPr name="Group 5" id="5"/>
          <p:cNvGrpSpPr/>
          <p:nvPr/>
        </p:nvGrpSpPr>
        <p:grpSpPr>
          <a:xfrm rot="0">
            <a:off x="9296400" y="1562100"/>
            <a:ext cx="6886575" cy="1584960"/>
            <a:chOff x="0" y="0"/>
            <a:chExt cx="9182100" cy="2113280"/>
          </a:xfrm>
        </p:grpSpPr>
        <p:sp>
          <p:nvSpPr>
            <p:cNvPr name="TextBox 6" id="6"/>
            <p:cNvSpPr txBox="true"/>
            <p:nvPr/>
          </p:nvSpPr>
          <p:spPr>
            <a:xfrm rot="0">
              <a:off x="0" y="1155700"/>
              <a:ext cx="9182100" cy="95758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F2F5F9"/>
                  </a:solidFill>
                  <a:latin typeface="TT Fors"/>
                  <a:ea typeface="TT Fors"/>
                  <a:cs typeface="TT Fors"/>
                  <a:sym typeface="TT Fors"/>
                </a:rPr>
                <a:t>Điểm trung bình được tính bằng cách lấy tổng điểm của các môn chia cho số môn học.</a:t>
              </a:r>
            </a:p>
          </p:txBody>
        </p:sp>
        <p:sp>
          <p:nvSpPr>
            <p:cNvPr name="TextBox 7" id="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F2F5F9"/>
                  </a:solidFill>
                  <a:latin typeface="ITC Avant Garde Gothic"/>
                  <a:ea typeface="ITC Avant Garde Gothic"/>
                  <a:cs typeface="ITC Avant Garde Gothic"/>
                  <a:sym typeface="ITC Avant Garde Gothic"/>
                </a:rPr>
                <a:t>Công thức tính</a:t>
              </a:r>
            </a:p>
          </p:txBody>
        </p:sp>
      </p:grpSp>
      <p:grpSp>
        <p:nvGrpSpPr>
          <p:cNvPr name="Group 8" id="8"/>
          <p:cNvGrpSpPr/>
          <p:nvPr/>
        </p:nvGrpSpPr>
        <p:grpSpPr>
          <a:xfrm rot="0">
            <a:off x="9296400" y="4248150"/>
            <a:ext cx="6886575" cy="1584960"/>
            <a:chOff x="0" y="0"/>
            <a:chExt cx="9182100" cy="2113280"/>
          </a:xfrm>
        </p:grpSpPr>
        <p:sp>
          <p:nvSpPr>
            <p:cNvPr name="TextBox 9" id="9"/>
            <p:cNvSpPr txBox="true"/>
            <p:nvPr/>
          </p:nvSpPr>
          <p:spPr>
            <a:xfrm rot="0">
              <a:off x="0" y="1155700"/>
              <a:ext cx="9182100" cy="95758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F2F5F9"/>
                  </a:solidFill>
                  <a:latin typeface="TT Fors"/>
                  <a:ea typeface="TT Fors"/>
                  <a:cs typeface="TT Fors"/>
                  <a:sym typeface="TT Fors"/>
                </a:rPr>
                <a:t>Sinh viên sẽ được phân loại thành Giỏi, Khá, Trung bình, và Yếu dựa trên điểm số và điều kiện từng môn học.</a:t>
              </a:r>
            </a:p>
          </p:txBody>
        </p:sp>
        <p:sp>
          <p:nvSpPr>
            <p:cNvPr name="TextBox 10" id="10"/>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F2F5F9"/>
                  </a:solidFill>
                  <a:latin typeface="ITC Avant Garde Gothic"/>
                  <a:ea typeface="ITC Avant Garde Gothic"/>
                  <a:cs typeface="ITC Avant Garde Gothic"/>
                  <a:sym typeface="ITC Avant Garde Gothic"/>
                </a:rPr>
                <a:t>Quy tắc xếp loại</a:t>
              </a:r>
            </a:p>
          </p:txBody>
        </p:sp>
      </p:grpSp>
      <p:grpSp>
        <p:nvGrpSpPr>
          <p:cNvPr name="Group 11" id="11"/>
          <p:cNvGrpSpPr/>
          <p:nvPr/>
        </p:nvGrpSpPr>
        <p:grpSpPr>
          <a:xfrm rot="0">
            <a:off x="9296400" y="6938010"/>
            <a:ext cx="6886575" cy="1584960"/>
            <a:chOff x="0" y="0"/>
            <a:chExt cx="9182100" cy="2113280"/>
          </a:xfrm>
        </p:grpSpPr>
        <p:sp>
          <p:nvSpPr>
            <p:cNvPr name="TextBox 12" id="12"/>
            <p:cNvSpPr txBox="true"/>
            <p:nvPr/>
          </p:nvSpPr>
          <p:spPr>
            <a:xfrm rot="0">
              <a:off x="0" y="1155700"/>
              <a:ext cx="9182100" cy="957580"/>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F2F5F9"/>
                  </a:solidFill>
                  <a:latin typeface="TT Fors"/>
                  <a:ea typeface="TT Fors"/>
                  <a:cs typeface="TT Fors"/>
                  <a:sym typeface="TT Fors"/>
                </a:rPr>
                <a:t>Để đạt được xếp loại, sinh viên cần thỏa mãn các yêu cầu cụ thể về điểm số tối thiểu của từng môn học.</a:t>
              </a:r>
            </a:p>
          </p:txBody>
        </p:sp>
        <p:sp>
          <p:nvSpPr>
            <p:cNvPr name="TextBox 13" id="13"/>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F2F5F9"/>
                  </a:solidFill>
                  <a:latin typeface="ITC Avant Garde Gothic"/>
                  <a:ea typeface="ITC Avant Garde Gothic"/>
                  <a:cs typeface="ITC Avant Garde Gothic"/>
                  <a:sym typeface="ITC Avant Garde Gothic"/>
                </a:rPr>
                <a:t>Điều kiện cụ thể</a:t>
              </a:r>
            </a:p>
          </p:txBody>
        </p:sp>
      </p:grpSp>
      <p:grpSp>
        <p:nvGrpSpPr>
          <p:cNvPr name="Group 14" id="14"/>
          <p:cNvGrpSpPr/>
          <p:nvPr/>
        </p:nvGrpSpPr>
        <p:grpSpPr>
          <a:xfrm rot="0">
            <a:off x="-1303343" y="7829550"/>
            <a:ext cx="4846643" cy="1791955"/>
            <a:chOff x="0" y="0"/>
            <a:chExt cx="6462190" cy="2389273"/>
          </a:xfrm>
        </p:grpSpPr>
        <p:sp>
          <p:nvSpPr>
            <p:cNvPr name="Freeform 15" id="15"/>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F3C88"/>
        </a:solidFill>
      </p:bgPr>
    </p:bg>
    <p:spTree>
      <p:nvGrpSpPr>
        <p:cNvPr id="1" name=""/>
        <p:cNvGrpSpPr/>
        <p:nvPr/>
      </p:nvGrpSpPr>
      <p:grpSpPr>
        <a:xfrm>
          <a:off x="0" y="0"/>
          <a:ext cx="0" cy="0"/>
          <a:chOff x="0" y="0"/>
          <a:chExt cx="0" cy="0"/>
        </a:xfrm>
      </p:grpSpPr>
      <p:grpSp>
        <p:nvGrpSpPr>
          <p:cNvPr name="Group 2" id="2"/>
          <p:cNvGrpSpPr/>
          <p:nvPr/>
        </p:nvGrpSpPr>
        <p:grpSpPr>
          <a:xfrm rot="0">
            <a:off x="666750" y="5143500"/>
            <a:ext cx="6886575" cy="2699385"/>
            <a:chOff x="0" y="0"/>
            <a:chExt cx="9182100" cy="3599180"/>
          </a:xfrm>
        </p:grpSpPr>
        <p:sp>
          <p:nvSpPr>
            <p:cNvPr name="TextBox 3" id="3"/>
            <p:cNvSpPr txBox="true"/>
            <p:nvPr/>
          </p:nvSpPr>
          <p:spPr>
            <a:xfrm rot="0">
              <a:off x="0" y="1155700"/>
              <a:ext cx="9182100" cy="2443480"/>
            </a:xfrm>
            <a:prstGeom prst="rect">
              <a:avLst/>
            </a:prstGeom>
          </p:spPr>
          <p:txBody>
            <a:bodyPr anchor="t" rtlCol="false" tIns="0" lIns="0" bIns="0" rIns="0">
              <a:spAutoFit/>
            </a:bodyPr>
            <a:lstStyle/>
            <a:p>
              <a:pPr algn="l" marL="0" indent="0" lvl="0">
                <a:lnSpc>
                  <a:spcPts val="2940"/>
                </a:lnSpc>
              </a:pPr>
              <a:r>
                <a:rPr lang="en-US" sz="2100">
                  <a:solidFill>
                    <a:srgbClr val="F2F5F9"/>
                  </a:solidFill>
                  <a:latin typeface="TT Fors"/>
                  <a:ea typeface="TT Fors"/>
                  <a:cs typeface="TT Fors"/>
                  <a:sym typeface="TT Fors"/>
                </a:rPr>
                <a:t>Thuật toán Bubble Sort được sử dụng để sắp xếp danh sách sinh viên theo điểm trung bình giảm dần. Phương pháp này làm việc bằng cách so sánh từng cặp sinh viên và hoán đổi vị trí nếu cần, cho đến khi toàn bộ danh sách được sắp xếp hoàn chỉnh.</a:t>
              </a:r>
            </a:p>
          </p:txBody>
        </p:sp>
        <p:sp>
          <p:nvSpPr>
            <p:cNvPr name="TextBox 4" id="4"/>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F2F5F9"/>
                  </a:solidFill>
                  <a:latin typeface="ITC Avant Garde Gothic"/>
                  <a:ea typeface="ITC Avant Garde Gothic"/>
                  <a:cs typeface="ITC Avant Garde Gothic"/>
                  <a:sym typeface="ITC Avant Garde Gothic"/>
                </a:rPr>
                <a:t>Sắp xếp theo điểm</a:t>
              </a:r>
            </a:p>
          </p:txBody>
        </p:sp>
      </p:grpSp>
      <p:grpSp>
        <p:nvGrpSpPr>
          <p:cNvPr name="Group 5" id="5"/>
          <p:cNvGrpSpPr/>
          <p:nvPr/>
        </p:nvGrpSpPr>
        <p:grpSpPr>
          <a:xfrm rot="0">
            <a:off x="9296400" y="5143500"/>
            <a:ext cx="6886575" cy="2699385"/>
            <a:chOff x="0" y="0"/>
            <a:chExt cx="9182100" cy="3599180"/>
          </a:xfrm>
        </p:grpSpPr>
        <p:sp>
          <p:nvSpPr>
            <p:cNvPr name="TextBox 6" id="6"/>
            <p:cNvSpPr txBox="true"/>
            <p:nvPr/>
          </p:nvSpPr>
          <p:spPr>
            <a:xfrm rot="0">
              <a:off x="0" y="1155700"/>
              <a:ext cx="9182100" cy="2443480"/>
            </a:xfrm>
            <a:prstGeom prst="rect">
              <a:avLst/>
            </a:prstGeom>
          </p:spPr>
          <p:txBody>
            <a:bodyPr anchor="t" rtlCol="false" tIns="0" lIns="0" bIns="0" rIns="0">
              <a:spAutoFit/>
            </a:bodyPr>
            <a:lstStyle/>
            <a:p>
              <a:pPr algn="l" marL="0" indent="0" lvl="0">
                <a:lnSpc>
                  <a:spcPts val="2940"/>
                </a:lnSpc>
              </a:pPr>
              <a:r>
                <a:rPr lang="en-US" sz="2100">
                  <a:solidFill>
                    <a:srgbClr val="F2F5F9"/>
                  </a:solidFill>
                  <a:latin typeface="TT Fors"/>
                  <a:ea typeface="TT Fors"/>
                  <a:cs typeface="TT Fors"/>
                  <a:sym typeface="TT Fors"/>
                </a:rPr>
                <a:t>Đối với việc sắp xếp tên sinh viên, thuật toán Selection Sort được áp dụng. Phương pháp này lựa chọn sinh viên có tên nhỏ nhất trong mỗi lần lặp và chuyển nó đến đầu danh sách, giúp tạo danh sách được sắp xếp theo thứ tự chữ cái từ A đến Z.</a:t>
              </a:r>
            </a:p>
          </p:txBody>
        </p:sp>
        <p:sp>
          <p:nvSpPr>
            <p:cNvPr name="TextBox 7" id="7"/>
            <p:cNvSpPr txBox="true"/>
            <p:nvPr/>
          </p:nvSpPr>
          <p:spPr>
            <a:xfrm rot="0">
              <a:off x="0" y="-104775"/>
              <a:ext cx="9182100" cy="626322"/>
            </a:xfrm>
            <a:prstGeom prst="rect">
              <a:avLst/>
            </a:prstGeom>
          </p:spPr>
          <p:txBody>
            <a:bodyPr anchor="t" rtlCol="false" tIns="0" lIns="0" bIns="0" rIns="0">
              <a:spAutoFit/>
            </a:bodyPr>
            <a:lstStyle/>
            <a:p>
              <a:pPr algn="l" marL="0" indent="0" lvl="0">
                <a:lnSpc>
                  <a:spcPts val="3640"/>
                </a:lnSpc>
                <a:spcBef>
                  <a:spcPct val="0"/>
                </a:spcBef>
              </a:pPr>
              <a:r>
                <a:rPr lang="en-US" sz="2600" spc="-78" strike="noStrike" u="none">
                  <a:solidFill>
                    <a:srgbClr val="F2F5F9"/>
                  </a:solidFill>
                  <a:latin typeface="ITC Avant Garde Gothic"/>
                  <a:ea typeface="ITC Avant Garde Gothic"/>
                  <a:cs typeface="ITC Avant Garde Gothic"/>
                  <a:sym typeface="ITC Avant Garde Gothic"/>
                </a:rPr>
                <a:t>Sắp xếp theo tên</a:t>
              </a:r>
            </a:p>
          </p:txBody>
        </p:sp>
      </p:grpSp>
      <p:grpSp>
        <p:nvGrpSpPr>
          <p:cNvPr name="Group 8" id="8"/>
          <p:cNvGrpSpPr/>
          <p:nvPr/>
        </p:nvGrpSpPr>
        <p:grpSpPr>
          <a:xfrm rot="0">
            <a:off x="666750" y="666750"/>
            <a:ext cx="11201400" cy="2162175"/>
            <a:chOff x="0" y="0"/>
            <a:chExt cx="14935200" cy="2882900"/>
          </a:xfrm>
        </p:grpSpPr>
        <p:sp>
          <p:nvSpPr>
            <p:cNvPr name="TextBox 9" id="9"/>
            <p:cNvSpPr txBox="true"/>
            <p:nvPr/>
          </p:nvSpPr>
          <p:spPr>
            <a:xfrm rot="0">
              <a:off x="0" y="-9525"/>
              <a:ext cx="14935200" cy="16266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F2F5F9"/>
                  </a:solidFill>
                  <a:latin typeface="ITC Avant Garde Gothic"/>
                  <a:ea typeface="ITC Avant Garde Gothic"/>
                  <a:cs typeface="ITC Avant Garde Gothic"/>
                  <a:sym typeface="ITC Avant Garde Gothic"/>
                </a:rPr>
                <a:t>Sắp xếp dữ liệu</a:t>
              </a:r>
            </a:p>
          </p:txBody>
        </p:sp>
        <p:sp>
          <p:nvSpPr>
            <p:cNvPr name="TextBox 10" id="10"/>
            <p:cNvSpPr txBox="true"/>
            <p:nvPr/>
          </p:nvSpPr>
          <p:spPr>
            <a:xfrm rot="0">
              <a:off x="0" y="2235200"/>
              <a:ext cx="13423900" cy="647700"/>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F2F5F9"/>
                  </a:solidFill>
                  <a:latin typeface="TT Fors"/>
                  <a:ea typeface="TT Fors"/>
                  <a:cs typeface="TT Fors"/>
                  <a:sym typeface="TT Fors"/>
                </a:rPr>
                <a:t>Phương pháp sắp xếp hiệu quả</a:t>
              </a:r>
            </a:p>
          </p:txBody>
        </p:sp>
      </p:grpSp>
      <p:grpSp>
        <p:nvGrpSpPr>
          <p:cNvPr name="Group 11" id="11"/>
          <p:cNvGrpSpPr/>
          <p:nvPr/>
        </p:nvGrpSpPr>
        <p:grpSpPr>
          <a:xfrm rot="0">
            <a:off x="15430959" y="752281"/>
            <a:ext cx="2190291" cy="809819"/>
            <a:chOff x="0" y="0"/>
            <a:chExt cx="2920388" cy="1079758"/>
          </a:xfrm>
        </p:grpSpPr>
        <p:sp>
          <p:nvSpPr>
            <p:cNvPr name="Freeform 12" id="12"/>
            <p:cNvSpPr/>
            <p:nvPr/>
          </p:nvSpPr>
          <p:spPr>
            <a:xfrm flipH="false" flipV="false" rot="0">
              <a:off x="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20315"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840630" y="0"/>
              <a:ext cx="1079758" cy="1079758"/>
            </a:xfrm>
            <a:custGeom>
              <a:avLst/>
              <a:gdLst/>
              <a:ahLst/>
              <a:cxnLst/>
              <a:rect r="r" b="b" t="t" l="l"/>
              <a:pathLst>
                <a:path h="1079758" w="1079758">
                  <a:moveTo>
                    <a:pt x="0" y="0"/>
                  </a:moveTo>
                  <a:lnTo>
                    <a:pt x="1079758" y="0"/>
                  </a:lnTo>
                  <a:lnTo>
                    <a:pt x="1079758" y="1079758"/>
                  </a:lnTo>
                  <a:lnTo>
                    <a:pt x="0" y="10797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2F5F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3271104" cy="4337904"/>
            <a:chOff x="0" y="0"/>
            <a:chExt cx="17694806" cy="5783872"/>
          </a:xfrm>
        </p:grpSpPr>
        <p:sp>
          <p:nvSpPr>
            <p:cNvPr name="TextBox 3" id="3"/>
            <p:cNvSpPr txBox="true"/>
            <p:nvPr/>
          </p:nvSpPr>
          <p:spPr>
            <a:xfrm rot="0">
              <a:off x="0" y="0"/>
              <a:ext cx="17694806" cy="1915935"/>
            </a:xfrm>
            <a:prstGeom prst="rect">
              <a:avLst/>
            </a:prstGeom>
          </p:spPr>
          <p:txBody>
            <a:bodyPr anchor="t" rtlCol="false" tIns="0" lIns="0" bIns="0" rIns="0">
              <a:spAutoFit/>
            </a:bodyPr>
            <a:lstStyle/>
            <a:p>
              <a:pPr algn="l" marL="0" indent="0" lvl="0">
                <a:lnSpc>
                  <a:spcPts val="9478"/>
                </a:lnSpc>
                <a:spcBef>
                  <a:spcPct val="0"/>
                </a:spcBef>
              </a:pPr>
              <a:r>
                <a:rPr lang="en-US" sz="9478" spc="-284" strike="noStrike" u="none">
                  <a:solidFill>
                    <a:srgbClr val="375A93"/>
                  </a:solidFill>
                  <a:latin typeface="ITC Avant Garde Gothic"/>
                  <a:ea typeface="ITC Avant Garde Gothic"/>
                  <a:cs typeface="ITC Avant Garde Gothic"/>
                  <a:sym typeface="ITC Avant Garde Gothic"/>
                </a:rPr>
                <a:t>Thống kê và phân tích</a:t>
              </a:r>
            </a:p>
          </p:txBody>
        </p:sp>
        <p:sp>
          <p:nvSpPr>
            <p:cNvPr name="TextBox 4" id="4"/>
            <p:cNvSpPr txBox="true"/>
            <p:nvPr/>
          </p:nvSpPr>
          <p:spPr>
            <a:xfrm rot="0">
              <a:off x="0" y="4069581"/>
              <a:ext cx="13150732" cy="1714292"/>
            </a:xfrm>
            <a:prstGeom prst="rect">
              <a:avLst/>
            </a:prstGeom>
          </p:spPr>
          <p:txBody>
            <a:bodyPr anchor="t" rtlCol="false" tIns="0" lIns="0" bIns="0" rIns="0">
              <a:spAutoFit/>
            </a:bodyPr>
            <a:lstStyle/>
            <a:p>
              <a:pPr algn="l" marL="0" indent="0" lvl="0">
                <a:lnSpc>
                  <a:spcPts val="3483"/>
                </a:lnSpc>
              </a:pPr>
              <a:r>
                <a:rPr lang="en-US" sz="2488">
                  <a:solidFill>
                    <a:srgbClr val="375A93"/>
                  </a:solidFill>
                  <a:latin typeface="TT Fors"/>
                  <a:ea typeface="TT Fors"/>
                  <a:cs typeface="TT Fors"/>
                  <a:sym typeface="TT Fors"/>
                </a:rPr>
                <a:t>Trong hệ thống quản lý sinh viên, việc thống kê dữ liệu giúp xác định số lượng sinh viên theo từng xếp loại, tìm sinh viên có điểm cao nhất và thấp nhất, và phân tích điểm trung bình chung.</a:t>
              </a:r>
            </a:p>
          </p:txBody>
        </p:sp>
        <p:sp>
          <p:nvSpPr>
            <p:cNvPr name="TextBox 5" id="5"/>
            <p:cNvSpPr txBox="true"/>
            <p:nvPr/>
          </p:nvSpPr>
          <p:spPr>
            <a:xfrm rot="0">
              <a:off x="0" y="2648202"/>
              <a:ext cx="15422769" cy="767377"/>
            </a:xfrm>
            <a:prstGeom prst="rect">
              <a:avLst/>
            </a:prstGeom>
          </p:spPr>
          <p:txBody>
            <a:bodyPr anchor="t" rtlCol="false" tIns="0" lIns="0" bIns="0" rIns="0">
              <a:spAutoFit/>
            </a:bodyPr>
            <a:lstStyle/>
            <a:p>
              <a:pPr algn="l" marL="0" indent="0" lvl="0">
                <a:lnSpc>
                  <a:spcPts val="4549"/>
                </a:lnSpc>
                <a:spcBef>
                  <a:spcPct val="0"/>
                </a:spcBef>
              </a:pPr>
              <a:r>
                <a:rPr lang="en-US" sz="3791" spc="-113" strike="noStrike" u="none">
                  <a:solidFill>
                    <a:srgbClr val="375A93"/>
                  </a:solidFill>
                  <a:latin typeface="TT Fors"/>
                  <a:ea typeface="TT Fors"/>
                  <a:cs typeface="TT Fors"/>
                  <a:sym typeface="TT Fors"/>
                </a:rPr>
                <a:t>Các chỉ số quan trọng</a:t>
              </a:r>
            </a:p>
          </p:txBody>
        </p:sp>
      </p:grpSp>
      <p:grpSp>
        <p:nvGrpSpPr>
          <p:cNvPr name="Group 6" id="6"/>
          <p:cNvGrpSpPr/>
          <p:nvPr/>
        </p:nvGrpSpPr>
        <p:grpSpPr>
          <a:xfrm rot="0">
            <a:off x="14744700" y="7829550"/>
            <a:ext cx="4846643" cy="1791955"/>
            <a:chOff x="0" y="0"/>
            <a:chExt cx="6462190" cy="2389273"/>
          </a:xfrm>
        </p:grpSpPr>
        <p:sp>
          <p:nvSpPr>
            <p:cNvPr name="Freeform 7" id="7"/>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75A93"/>
        </a:solidFill>
      </p:bgPr>
    </p:bg>
    <p:spTree>
      <p:nvGrpSpPr>
        <p:cNvPr id="1" name=""/>
        <p:cNvGrpSpPr/>
        <p:nvPr/>
      </p:nvGrpSpPr>
      <p:grpSpPr>
        <a:xfrm>
          <a:off x="0" y="0"/>
          <a:ext cx="0" cy="0"/>
          <a:chOff x="0" y="0"/>
          <a:chExt cx="0" cy="0"/>
        </a:xfrm>
      </p:grpSpPr>
      <p:grpSp>
        <p:nvGrpSpPr>
          <p:cNvPr name="Group 2" id="2"/>
          <p:cNvGrpSpPr/>
          <p:nvPr/>
        </p:nvGrpSpPr>
        <p:grpSpPr>
          <a:xfrm rot="0">
            <a:off x="727983" y="727983"/>
            <a:ext cx="13200879" cy="4314950"/>
            <a:chOff x="0" y="0"/>
            <a:chExt cx="17601172" cy="5753266"/>
          </a:xfrm>
        </p:grpSpPr>
        <p:sp>
          <p:nvSpPr>
            <p:cNvPr name="TextBox 3" id="3"/>
            <p:cNvSpPr txBox="true"/>
            <p:nvPr/>
          </p:nvSpPr>
          <p:spPr>
            <a:xfrm rot="0">
              <a:off x="0" y="-9525"/>
              <a:ext cx="17601172" cy="1915322"/>
            </a:xfrm>
            <a:prstGeom prst="rect">
              <a:avLst/>
            </a:prstGeom>
          </p:spPr>
          <p:txBody>
            <a:bodyPr anchor="t" rtlCol="false" tIns="0" lIns="0" bIns="0" rIns="0">
              <a:spAutoFit/>
            </a:bodyPr>
            <a:lstStyle/>
            <a:p>
              <a:pPr algn="l" marL="0" indent="0" lvl="0">
                <a:lnSpc>
                  <a:spcPts val="9428"/>
                </a:lnSpc>
                <a:spcBef>
                  <a:spcPct val="0"/>
                </a:spcBef>
              </a:pPr>
              <a:r>
                <a:rPr lang="en-US" sz="9428" spc="-282" strike="noStrike" u="none">
                  <a:solidFill>
                    <a:srgbClr val="F2F5F9"/>
                  </a:solidFill>
                  <a:latin typeface="ITC Avant Garde Gothic"/>
                  <a:ea typeface="ITC Avant Garde Gothic"/>
                  <a:cs typeface="ITC Avant Garde Gothic"/>
                  <a:sym typeface="ITC Avant Garde Gothic"/>
                </a:rPr>
                <a:t>Kiến thức và kỹ thuật</a:t>
              </a:r>
            </a:p>
          </p:txBody>
        </p:sp>
        <p:sp>
          <p:nvSpPr>
            <p:cNvPr name="TextBox 4" id="4"/>
            <p:cNvSpPr txBox="true"/>
            <p:nvPr/>
          </p:nvSpPr>
          <p:spPr>
            <a:xfrm rot="0">
              <a:off x="0" y="4038320"/>
              <a:ext cx="13081143" cy="1714947"/>
            </a:xfrm>
            <a:prstGeom prst="rect">
              <a:avLst/>
            </a:prstGeom>
          </p:spPr>
          <p:txBody>
            <a:bodyPr anchor="t" rtlCol="false" tIns="0" lIns="0" bIns="0" rIns="0">
              <a:spAutoFit/>
            </a:bodyPr>
            <a:lstStyle/>
            <a:p>
              <a:pPr algn="l" marL="0" indent="0" lvl="0">
                <a:lnSpc>
                  <a:spcPts val="3464"/>
                </a:lnSpc>
              </a:pPr>
              <a:r>
                <a:rPr lang="en-US" sz="2474">
                  <a:solidFill>
                    <a:srgbClr val="F2F5F9"/>
                  </a:solidFill>
                  <a:latin typeface="TT Fors"/>
                  <a:ea typeface="TT Fors"/>
                  <a:cs typeface="TT Fors"/>
                  <a:sym typeface="TT Fors"/>
                </a:rPr>
                <a:t>Dự án ứng dụng </a:t>
              </a:r>
              <a:r>
                <a:rPr lang="en-US" b="true" sz="2474">
                  <a:solidFill>
                    <a:srgbClr val="F2F5F9"/>
                  </a:solidFill>
                  <a:latin typeface="TT Fors Bold"/>
                  <a:ea typeface="TT Fors Bold"/>
                  <a:cs typeface="TT Fors Bold"/>
                  <a:sym typeface="TT Fors Bold"/>
                </a:rPr>
                <a:t>Java Core</a:t>
              </a:r>
              <a:r>
                <a:rPr lang="en-US" sz="2474">
                  <a:solidFill>
                    <a:srgbClr val="F2F5F9"/>
                  </a:solidFill>
                  <a:latin typeface="TT Fors"/>
                  <a:ea typeface="TT Fors"/>
                  <a:cs typeface="TT Fors"/>
                  <a:sym typeface="TT Fors"/>
                </a:rPr>
                <a:t> với OOP sử dụng các kiến thức về class, object, mảng đối tượng, và các thuật toán tìm kiếm để quản lý sinh viên một cách hiệu quả.</a:t>
              </a:r>
            </a:p>
          </p:txBody>
        </p:sp>
        <p:sp>
          <p:nvSpPr>
            <p:cNvPr name="TextBox 5" id="5"/>
            <p:cNvSpPr txBox="true"/>
            <p:nvPr/>
          </p:nvSpPr>
          <p:spPr>
            <a:xfrm rot="0">
              <a:off x="0" y="2634189"/>
              <a:ext cx="15341158" cy="763316"/>
            </a:xfrm>
            <a:prstGeom prst="rect">
              <a:avLst/>
            </a:prstGeom>
          </p:spPr>
          <p:txBody>
            <a:bodyPr anchor="t" rtlCol="false" tIns="0" lIns="0" bIns="0" rIns="0">
              <a:spAutoFit/>
            </a:bodyPr>
            <a:lstStyle/>
            <a:p>
              <a:pPr algn="l" marL="0" indent="0" lvl="0">
                <a:lnSpc>
                  <a:spcPts val="4525"/>
                </a:lnSpc>
                <a:spcBef>
                  <a:spcPct val="0"/>
                </a:spcBef>
              </a:pPr>
              <a:r>
                <a:rPr lang="en-US" sz="3771" spc="-113" strike="noStrike" u="none">
                  <a:solidFill>
                    <a:srgbClr val="F2F5F9"/>
                  </a:solidFill>
                  <a:latin typeface="TT Fors"/>
                  <a:ea typeface="TT Fors"/>
                  <a:cs typeface="TT Fors"/>
                  <a:sym typeface="TT Fors"/>
                </a:rPr>
                <a:t>Lập trình trong dự án</a:t>
              </a:r>
            </a:p>
          </p:txBody>
        </p:sp>
      </p:grpSp>
      <p:grpSp>
        <p:nvGrpSpPr>
          <p:cNvPr name="Group 6" id="6"/>
          <p:cNvGrpSpPr/>
          <p:nvPr/>
        </p:nvGrpSpPr>
        <p:grpSpPr>
          <a:xfrm rot="0">
            <a:off x="14744700" y="7829550"/>
            <a:ext cx="4846643" cy="1791955"/>
            <a:chOff x="0" y="0"/>
            <a:chExt cx="6462190" cy="2389273"/>
          </a:xfrm>
        </p:grpSpPr>
        <p:sp>
          <p:nvSpPr>
            <p:cNvPr name="Freeform 7" id="7"/>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F3C88"/>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3578326" cy="4438325"/>
            <a:chOff x="0" y="0"/>
            <a:chExt cx="18104434" cy="5917767"/>
          </a:xfrm>
        </p:grpSpPr>
        <p:sp>
          <p:nvSpPr>
            <p:cNvPr name="TextBox 3" id="3"/>
            <p:cNvSpPr txBox="true"/>
            <p:nvPr/>
          </p:nvSpPr>
          <p:spPr>
            <a:xfrm rot="0">
              <a:off x="0" y="0"/>
              <a:ext cx="18104434" cy="1960288"/>
            </a:xfrm>
            <a:prstGeom prst="rect">
              <a:avLst/>
            </a:prstGeom>
          </p:spPr>
          <p:txBody>
            <a:bodyPr anchor="t" rtlCol="false" tIns="0" lIns="0" bIns="0" rIns="0">
              <a:spAutoFit/>
            </a:bodyPr>
            <a:lstStyle/>
            <a:p>
              <a:pPr algn="l" marL="0" indent="0" lvl="0">
                <a:lnSpc>
                  <a:spcPts val="9697"/>
                </a:lnSpc>
                <a:spcBef>
                  <a:spcPct val="0"/>
                </a:spcBef>
              </a:pPr>
              <a:r>
                <a:rPr lang="en-US" sz="9697" spc="-290" strike="noStrike" u="none">
                  <a:solidFill>
                    <a:srgbClr val="F2F5F9"/>
                  </a:solidFill>
                  <a:latin typeface="ITC Avant Garde Gothic"/>
                  <a:ea typeface="ITC Avant Garde Gothic"/>
                  <a:cs typeface="ITC Avant Garde Gothic"/>
                  <a:sym typeface="ITC Avant Garde Gothic"/>
                </a:rPr>
                <a:t>Cấu trúc chương trình</a:t>
              </a:r>
            </a:p>
          </p:txBody>
        </p:sp>
        <p:sp>
          <p:nvSpPr>
            <p:cNvPr name="TextBox 4" id="4"/>
            <p:cNvSpPr txBox="true"/>
            <p:nvPr/>
          </p:nvSpPr>
          <p:spPr>
            <a:xfrm rot="0">
              <a:off x="0" y="4145622"/>
              <a:ext cx="13455166" cy="1772145"/>
            </a:xfrm>
            <a:prstGeom prst="rect">
              <a:avLst/>
            </a:prstGeom>
          </p:spPr>
          <p:txBody>
            <a:bodyPr anchor="t" rtlCol="false" tIns="0" lIns="0" bIns="0" rIns="0">
              <a:spAutoFit/>
            </a:bodyPr>
            <a:lstStyle/>
            <a:p>
              <a:pPr algn="l" marL="0" indent="0" lvl="0">
                <a:lnSpc>
                  <a:spcPts val="3563"/>
                </a:lnSpc>
              </a:pPr>
              <a:r>
                <a:rPr lang="en-US" sz="2545">
                  <a:solidFill>
                    <a:srgbClr val="F2F5F9"/>
                  </a:solidFill>
                  <a:latin typeface="TT Fors"/>
                  <a:ea typeface="TT Fors"/>
                  <a:cs typeface="TT Fors"/>
                  <a:sym typeface="TT Fors"/>
                </a:rPr>
                <a:t>Chương trình bao gồm ba lớp chính: </a:t>
              </a:r>
              <a:r>
                <a:rPr lang="en-US" b="true" sz="2545">
                  <a:solidFill>
                    <a:srgbClr val="F2F5F9"/>
                  </a:solidFill>
                  <a:latin typeface="TT Fors Bold"/>
                  <a:ea typeface="TT Fors Bold"/>
                  <a:cs typeface="TT Fors Bold"/>
                  <a:sym typeface="TT Fors Bold"/>
                </a:rPr>
                <a:t>Student</a:t>
              </a:r>
              <a:r>
                <a:rPr lang="en-US" sz="2545">
                  <a:solidFill>
                    <a:srgbClr val="F2F5F9"/>
                  </a:solidFill>
                  <a:latin typeface="TT Fors"/>
                  <a:ea typeface="TT Fors"/>
                  <a:cs typeface="TT Fors"/>
                  <a:sym typeface="TT Fors"/>
                </a:rPr>
                <a:t>, lưu trữ thông tin sinh viên; </a:t>
              </a:r>
              <a:r>
                <a:rPr lang="en-US" b="true" sz="2545">
                  <a:solidFill>
                    <a:srgbClr val="F2F5F9"/>
                  </a:solidFill>
                  <a:latin typeface="TT Fors Bold"/>
                  <a:ea typeface="TT Fors Bold"/>
                  <a:cs typeface="TT Fors Bold"/>
                  <a:sym typeface="TT Fors Bold"/>
                </a:rPr>
                <a:t>StudentManager</a:t>
              </a:r>
              <a:r>
                <a:rPr lang="en-US" sz="2545">
                  <a:solidFill>
                    <a:srgbClr val="F2F5F9"/>
                  </a:solidFill>
                  <a:latin typeface="TT Fors"/>
                  <a:ea typeface="TT Fors"/>
                  <a:cs typeface="TT Fors"/>
                  <a:sym typeface="TT Fors"/>
                </a:rPr>
                <a:t>, xử lý nghiệp vụ quản lý sinh viên; và </a:t>
              </a:r>
              <a:r>
                <a:rPr lang="en-US" b="true" sz="2545">
                  <a:solidFill>
                    <a:srgbClr val="F2F5F9"/>
                  </a:solidFill>
                  <a:latin typeface="TT Fors Bold"/>
                  <a:ea typeface="TT Fors Bold"/>
                  <a:cs typeface="TT Fors Bold"/>
                  <a:sym typeface="TT Fors Bold"/>
                </a:rPr>
                <a:t>MainApp</a:t>
              </a:r>
              <a:r>
                <a:rPr lang="en-US" sz="2545">
                  <a:solidFill>
                    <a:srgbClr val="F2F5F9"/>
                  </a:solidFill>
                  <a:latin typeface="TT Fors"/>
                  <a:ea typeface="TT Fors"/>
                  <a:cs typeface="TT Fors"/>
                  <a:sym typeface="TT Fors"/>
                </a:rPr>
                <a:t>, tương tác với người dùng qua menu.</a:t>
              </a:r>
            </a:p>
          </p:txBody>
        </p:sp>
        <p:sp>
          <p:nvSpPr>
            <p:cNvPr name="TextBox 5" id="5"/>
            <p:cNvSpPr txBox="true"/>
            <p:nvPr/>
          </p:nvSpPr>
          <p:spPr>
            <a:xfrm rot="0">
              <a:off x="0" y="2709507"/>
              <a:ext cx="15779800" cy="785141"/>
            </a:xfrm>
            <a:prstGeom prst="rect">
              <a:avLst/>
            </a:prstGeom>
          </p:spPr>
          <p:txBody>
            <a:bodyPr anchor="t" rtlCol="false" tIns="0" lIns="0" bIns="0" rIns="0">
              <a:spAutoFit/>
            </a:bodyPr>
            <a:lstStyle/>
            <a:p>
              <a:pPr algn="l" marL="0" indent="0" lvl="0">
                <a:lnSpc>
                  <a:spcPts val="4654"/>
                </a:lnSpc>
                <a:spcBef>
                  <a:spcPct val="0"/>
                </a:spcBef>
              </a:pPr>
              <a:r>
                <a:rPr lang="en-US" sz="3879" spc="-116" strike="noStrike" u="none">
                  <a:solidFill>
                    <a:srgbClr val="F2F5F9"/>
                  </a:solidFill>
                  <a:latin typeface="TT Fors"/>
                  <a:ea typeface="TT Fors"/>
                  <a:cs typeface="TT Fors"/>
                  <a:sym typeface="TT Fors"/>
                </a:rPr>
                <a:t>Mô tả các lớp</a:t>
              </a:r>
            </a:p>
          </p:txBody>
        </p:sp>
      </p:grpSp>
      <p:grpSp>
        <p:nvGrpSpPr>
          <p:cNvPr name="Group 6" id="6"/>
          <p:cNvGrpSpPr/>
          <p:nvPr/>
        </p:nvGrpSpPr>
        <p:grpSpPr>
          <a:xfrm rot="0">
            <a:off x="14744700" y="7829550"/>
            <a:ext cx="4846643" cy="1791955"/>
            <a:chOff x="0" y="0"/>
            <a:chExt cx="6462190" cy="2389273"/>
          </a:xfrm>
        </p:grpSpPr>
        <p:sp>
          <p:nvSpPr>
            <p:cNvPr name="Freeform 7" id="7"/>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2F5F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2703488" cy="5297411"/>
            <a:chOff x="0" y="0"/>
            <a:chExt cx="16937985" cy="7063215"/>
          </a:xfrm>
        </p:grpSpPr>
        <p:sp>
          <p:nvSpPr>
            <p:cNvPr name="TextBox 3" id="3"/>
            <p:cNvSpPr txBox="true"/>
            <p:nvPr/>
          </p:nvSpPr>
          <p:spPr>
            <a:xfrm rot="0">
              <a:off x="0" y="0"/>
              <a:ext cx="16937985" cy="3360712"/>
            </a:xfrm>
            <a:prstGeom prst="rect">
              <a:avLst/>
            </a:prstGeom>
          </p:spPr>
          <p:txBody>
            <a:bodyPr anchor="t" rtlCol="false" tIns="0" lIns="0" bIns="0" rIns="0">
              <a:spAutoFit/>
            </a:bodyPr>
            <a:lstStyle/>
            <a:p>
              <a:pPr algn="l" marL="0" indent="0" lvl="0">
                <a:lnSpc>
                  <a:spcPts val="9072"/>
                </a:lnSpc>
                <a:spcBef>
                  <a:spcPct val="0"/>
                </a:spcBef>
              </a:pPr>
              <a:r>
                <a:rPr lang="en-US" sz="9072" spc="-272" strike="noStrike" u="none">
                  <a:solidFill>
                    <a:srgbClr val="375A93"/>
                  </a:solidFill>
                  <a:latin typeface="ITC Avant Garde Gothic"/>
                  <a:ea typeface="ITC Avant Garde Gothic"/>
                  <a:cs typeface="ITC Avant Garde Gothic"/>
                  <a:sym typeface="ITC Avant Garde Gothic"/>
                </a:rPr>
                <a:t>Kịch bản demo ứng dụng</a:t>
              </a:r>
            </a:p>
          </p:txBody>
        </p:sp>
        <p:sp>
          <p:nvSpPr>
            <p:cNvPr name="TextBox 4" id="4"/>
            <p:cNvSpPr txBox="true"/>
            <p:nvPr/>
          </p:nvSpPr>
          <p:spPr>
            <a:xfrm rot="0">
              <a:off x="0" y="5420615"/>
              <a:ext cx="12588264" cy="1642600"/>
            </a:xfrm>
            <a:prstGeom prst="rect">
              <a:avLst/>
            </a:prstGeom>
          </p:spPr>
          <p:txBody>
            <a:bodyPr anchor="t" rtlCol="false" tIns="0" lIns="0" bIns="0" rIns="0">
              <a:spAutoFit/>
            </a:bodyPr>
            <a:lstStyle/>
            <a:p>
              <a:pPr algn="l" marL="0" indent="0" lvl="0">
                <a:lnSpc>
                  <a:spcPts val="3334"/>
                </a:lnSpc>
              </a:pPr>
              <a:r>
                <a:rPr lang="en-US" sz="2381">
                  <a:solidFill>
                    <a:srgbClr val="375A93"/>
                  </a:solidFill>
                  <a:latin typeface="TT Fors"/>
                  <a:ea typeface="TT Fors"/>
                  <a:cs typeface="TT Fors"/>
                  <a:sym typeface="TT Fors"/>
                </a:rPr>
                <a:t>Trong kịch bản demo, ứng dụng sẽ khởi động, hiển thị menu chính, và người dùng có thể thêm sinh viên, hiển thị thông tin, tìm kiếm, sắp xếp và thống kê dữ liệu.</a:t>
              </a:r>
            </a:p>
          </p:txBody>
        </p:sp>
        <p:sp>
          <p:nvSpPr>
            <p:cNvPr name="TextBox 5" id="5"/>
            <p:cNvSpPr txBox="true"/>
            <p:nvPr/>
          </p:nvSpPr>
          <p:spPr>
            <a:xfrm rot="0">
              <a:off x="0" y="4061660"/>
              <a:ext cx="14763124" cy="734555"/>
            </a:xfrm>
            <a:prstGeom prst="rect">
              <a:avLst/>
            </a:prstGeom>
          </p:spPr>
          <p:txBody>
            <a:bodyPr anchor="t" rtlCol="false" tIns="0" lIns="0" bIns="0" rIns="0">
              <a:spAutoFit/>
            </a:bodyPr>
            <a:lstStyle/>
            <a:p>
              <a:pPr algn="l" marL="0" indent="0" lvl="0">
                <a:lnSpc>
                  <a:spcPts val="4354"/>
                </a:lnSpc>
                <a:spcBef>
                  <a:spcPct val="0"/>
                </a:spcBef>
              </a:pPr>
              <a:r>
                <a:rPr lang="en-US" sz="3629" spc="-108" strike="noStrike" u="none">
                  <a:solidFill>
                    <a:srgbClr val="375A93"/>
                  </a:solidFill>
                  <a:latin typeface="TT Fors"/>
                  <a:ea typeface="TT Fors"/>
                  <a:cs typeface="TT Fors"/>
                  <a:sym typeface="TT Fors"/>
                </a:rPr>
                <a:t>Quy trình thực hiện chi tiết</a:t>
              </a:r>
            </a:p>
          </p:txBody>
        </p:sp>
      </p:grpSp>
      <p:grpSp>
        <p:nvGrpSpPr>
          <p:cNvPr name="Group 6" id="6"/>
          <p:cNvGrpSpPr/>
          <p:nvPr/>
        </p:nvGrpSpPr>
        <p:grpSpPr>
          <a:xfrm rot="0">
            <a:off x="14744700" y="7829550"/>
            <a:ext cx="4846643" cy="1791955"/>
            <a:chOff x="0" y="0"/>
            <a:chExt cx="6462190" cy="2389273"/>
          </a:xfrm>
        </p:grpSpPr>
        <p:sp>
          <p:nvSpPr>
            <p:cNvPr name="Freeform 7" id="7"/>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375A93"/>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3060968" cy="5446481"/>
            <a:chOff x="0" y="0"/>
            <a:chExt cx="17414623" cy="7261975"/>
          </a:xfrm>
        </p:grpSpPr>
        <p:sp>
          <p:nvSpPr>
            <p:cNvPr name="TextBox 3" id="3"/>
            <p:cNvSpPr txBox="true"/>
            <p:nvPr/>
          </p:nvSpPr>
          <p:spPr>
            <a:xfrm rot="0">
              <a:off x="0" y="0"/>
              <a:ext cx="17414623" cy="3455283"/>
            </a:xfrm>
            <a:prstGeom prst="rect">
              <a:avLst/>
            </a:prstGeom>
          </p:spPr>
          <p:txBody>
            <a:bodyPr anchor="t" rtlCol="false" tIns="0" lIns="0" bIns="0" rIns="0">
              <a:spAutoFit/>
            </a:bodyPr>
            <a:lstStyle/>
            <a:p>
              <a:pPr algn="l" marL="0" indent="0" lvl="0">
                <a:lnSpc>
                  <a:spcPts val="9328"/>
                </a:lnSpc>
                <a:spcBef>
                  <a:spcPct val="0"/>
                </a:spcBef>
              </a:pPr>
              <a:r>
                <a:rPr lang="en-US" sz="9328" spc="-279" strike="noStrike" u="none">
                  <a:solidFill>
                    <a:srgbClr val="F2F5F9"/>
                  </a:solidFill>
                  <a:latin typeface="ITC Avant Garde Gothic"/>
                  <a:ea typeface="ITC Avant Garde Gothic"/>
                  <a:cs typeface="ITC Avant Garde Gothic"/>
                  <a:sym typeface="ITC Avant Garde Gothic"/>
                </a:rPr>
                <a:t>Khó khăn trong quá trình</a:t>
              </a:r>
            </a:p>
          </p:txBody>
        </p:sp>
        <p:sp>
          <p:nvSpPr>
            <p:cNvPr name="TextBox 4" id="4"/>
            <p:cNvSpPr txBox="true"/>
            <p:nvPr/>
          </p:nvSpPr>
          <p:spPr>
            <a:xfrm rot="0">
              <a:off x="0" y="5564699"/>
              <a:ext cx="12942501" cy="1697276"/>
            </a:xfrm>
            <a:prstGeom prst="rect">
              <a:avLst/>
            </a:prstGeom>
          </p:spPr>
          <p:txBody>
            <a:bodyPr anchor="t" rtlCol="false" tIns="0" lIns="0" bIns="0" rIns="0">
              <a:spAutoFit/>
            </a:bodyPr>
            <a:lstStyle/>
            <a:p>
              <a:pPr algn="l" marL="0" indent="0" lvl="0">
                <a:lnSpc>
                  <a:spcPts val="3428"/>
                </a:lnSpc>
              </a:pPr>
              <a:r>
                <a:rPr lang="en-US" sz="2448">
                  <a:solidFill>
                    <a:srgbClr val="F2F5F9"/>
                  </a:solidFill>
                  <a:latin typeface="TT Fors"/>
                  <a:ea typeface="TT Fors"/>
                  <a:cs typeface="TT Fors"/>
                  <a:sym typeface="TT Fors"/>
                </a:rPr>
                <a:t>Trong quá trình phát triển dự án, chúng tôi đã </a:t>
              </a:r>
              <a:r>
                <a:rPr lang="en-US" b="true" sz="2448">
                  <a:solidFill>
                    <a:srgbClr val="F2F5F9"/>
                  </a:solidFill>
                  <a:latin typeface="TT Fors Bold"/>
                  <a:ea typeface="TT Fors Bold"/>
                  <a:cs typeface="TT Fors Bold"/>
                  <a:sym typeface="TT Fors Bold"/>
                </a:rPr>
                <a:t>gặp nhiều khó khăn</a:t>
              </a:r>
              <a:r>
                <a:rPr lang="en-US" sz="2448">
                  <a:solidFill>
                    <a:srgbClr val="F2F5F9"/>
                  </a:solidFill>
                  <a:latin typeface="TT Fors"/>
                  <a:ea typeface="TT Fors"/>
                  <a:cs typeface="TT Fors"/>
                  <a:sym typeface="TT Fors"/>
                </a:rPr>
                <a:t>, bao gồm xử lý xóa mảng, validate dữ liệu, và quản lý chỉ số mảng cũng như tránh lỗi NullPointerException.</a:t>
              </a:r>
            </a:p>
          </p:txBody>
        </p:sp>
        <p:sp>
          <p:nvSpPr>
            <p:cNvPr name="TextBox 5" id="5"/>
            <p:cNvSpPr txBox="true"/>
            <p:nvPr/>
          </p:nvSpPr>
          <p:spPr>
            <a:xfrm rot="0">
              <a:off x="0" y="4185481"/>
              <a:ext cx="15178562" cy="745701"/>
            </a:xfrm>
            <a:prstGeom prst="rect">
              <a:avLst/>
            </a:prstGeom>
          </p:spPr>
          <p:txBody>
            <a:bodyPr anchor="t" rtlCol="false" tIns="0" lIns="0" bIns="0" rIns="0">
              <a:spAutoFit/>
            </a:bodyPr>
            <a:lstStyle/>
            <a:p>
              <a:pPr algn="l" marL="0" indent="0" lvl="0">
                <a:lnSpc>
                  <a:spcPts val="4477"/>
                </a:lnSpc>
                <a:spcBef>
                  <a:spcPct val="0"/>
                </a:spcBef>
              </a:pPr>
              <a:r>
                <a:rPr lang="en-US" sz="3731" spc="-111" strike="noStrike" u="none">
                  <a:solidFill>
                    <a:srgbClr val="F2F5F9"/>
                  </a:solidFill>
                  <a:latin typeface="TT Fors"/>
                  <a:ea typeface="TT Fors"/>
                  <a:cs typeface="TT Fors"/>
                  <a:sym typeface="TT Fors"/>
                </a:rPr>
                <a:t>Những thách thức đã gặp</a:t>
              </a:r>
            </a:p>
          </p:txBody>
        </p:sp>
      </p:grpSp>
      <p:grpSp>
        <p:nvGrpSpPr>
          <p:cNvPr name="Group 6" id="6"/>
          <p:cNvGrpSpPr/>
          <p:nvPr/>
        </p:nvGrpSpPr>
        <p:grpSpPr>
          <a:xfrm rot="0">
            <a:off x="14744700" y="7829550"/>
            <a:ext cx="4846643" cy="1791955"/>
            <a:chOff x="0" y="0"/>
            <a:chExt cx="6462190" cy="2389273"/>
          </a:xfrm>
        </p:grpSpPr>
        <p:sp>
          <p:nvSpPr>
            <p:cNvPr name="Freeform 7" id="7"/>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F3C88"/>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3923780" cy="4551243"/>
            <a:chOff x="0" y="0"/>
            <a:chExt cx="18565040" cy="6068324"/>
          </a:xfrm>
        </p:grpSpPr>
        <p:sp>
          <p:nvSpPr>
            <p:cNvPr name="TextBox 3" id="3"/>
            <p:cNvSpPr txBox="true"/>
            <p:nvPr/>
          </p:nvSpPr>
          <p:spPr>
            <a:xfrm rot="0">
              <a:off x="0" y="-9525"/>
              <a:ext cx="18565040" cy="2019686"/>
            </a:xfrm>
            <a:prstGeom prst="rect">
              <a:avLst/>
            </a:prstGeom>
          </p:spPr>
          <p:txBody>
            <a:bodyPr anchor="t" rtlCol="false" tIns="0" lIns="0" bIns="0" rIns="0">
              <a:spAutoFit/>
            </a:bodyPr>
            <a:lstStyle/>
            <a:p>
              <a:pPr algn="l" marL="0" indent="0" lvl="0">
                <a:lnSpc>
                  <a:spcPts val="9944"/>
                </a:lnSpc>
                <a:spcBef>
                  <a:spcPct val="0"/>
                </a:spcBef>
              </a:pPr>
              <a:r>
                <a:rPr lang="en-US" sz="9944" spc="-298" strike="noStrike" u="none">
                  <a:solidFill>
                    <a:srgbClr val="F2F5F9"/>
                  </a:solidFill>
                  <a:latin typeface="ITC Avant Garde Gothic"/>
                  <a:ea typeface="ITC Avant Garde Gothic"/>
                  <a:cs typeface="ITC Avant Garde Gothic"/>
                  <a:sym typeface="ITC Avant Garde Gothic"/>
                </a:rPr>
                <a:t>Bài học từ dự án</a:t>
              </a:r>
            </a:p>
          </p:txBody>
        </p:sp>
        <p:sp>
          <p:nvSpPr>
            <p:cNvPr name="TextBox 4" id="4"/>
            <p:cNvSpPr txBox="true"/>
            <p:nvPr/>
          </p:nvSpPr>
          <p:spPr>
            <a:xfrm rot="0">
              <a:off x="0" y="4262072"/>
              <a:ext cx="13797487" cy="1806252"/>
            </a:xfrm>
            <a:prstGeom prst="rect">
              <a:avLst/>
            </a:prstGeom>
          </p:spPr>
          <p:txBody>
            <a:bodyPr anchor="t" rtlCol="false" tIns="0" lIns="0" bIns="0" rIns="0">
              <a:spAutoFit/>
            </a:bodyPr>
            <a:lstStyle/>
            <a:p>
              <a:pPr algn="l" marL="0" indent="0" lvl="0">
                <a:lnSpc>
                  <a:spcPts val="3654"/>
                </a:lnSpc>
              </a:pPr>
              <a:r>
                <a:rPr lang="en-US" sz="2610">
                  <a:solidFill>
                    <a:srgbClr val="F2F5F9"/>
                  </a:solidFill>
                  <a:latin typeface="TT Fors"/>
                  <a:ea typeface="TT Fors"/>
                  <a:cs typeface="TT Fors"/>
                  <a:sym typeface="TT Fors"/>
                </a:rPr>
                <a:t>Trong quá trình thực hiện dự án, chúng tôi đã học được </a:t>
              </a:r>
              <a:r>
                <a:rPr lang="en-US" b="true" sz="2610">
                  <a:solidFill>
                    <a:srgbClr val="F2F5F9"/>
                  </a:solidFill>
                  <a:latin typeface="TT Fors Bold"/>
                  <a:ea typeface="TT Fors Bold"/>
                  <a:cs typeface="TT Fors Bold"/>
                  <a:sym typeface="TT Fors Bold"/>
                </a:rPr>
                <a:t>tầm quan trọng</a:t>
              </a:r>
              <a:r>
                <a:rPr lang="en-US" sz="2610">
                  <a:solidFill>
                    <a:srgbClr val="F2F5F9"/>
                  </a:solidFill>
                  <a:latin typeface="TT Fors"/>
                  <a:ea typeface="TT Fors"/>
                  <a:cs typeface="TT Fors"/>
                  <a:sym typeface="TT Fors"/>
                </a:rPr>
                <a:t> của việc thiết kế class rõ ràng và chia nhỏ bài toán, giúp code trở nên dễ đọc và mở rộng.</a:t>
              </a:r>
            </a:p>
          </p:txBody>
        </p:sp>
        <p:sp>
          <p:nvSpPr>
            <p:cNvPr name="TextBox 5" id="5"/>
            <p:cNvSpPr txBox="true"/>
            <p:nvPr/>
          </p:nvSpPr>
          <p:spPr>
            <a:xfrm rot="0">
              <a:off x="0" y="2778441"/>
              <a:ext cx="16181264" cy="805117"/>
            </a:xfrm>
            <a:prstGeom prst="rect">
              <a:avLst/>
            </a:prstGeom>
          </p:spPr>
          <p:txBody>
            <a:bodyPr anchor="t" rtlCol="false" tIns="0" lIns="0" bIns="0" rIns="0">
              <a:spAutoFit/>
            </a:bodyPr>
            <a:lstStyle/>
            <a:p>
              <a:pPr algn="l" marL="0" indent="0" lvl="0">
                <a:lnSpc>
                  <a:spcPts val="4773"/>
                </a:lnSpc>
                <a:spcBef>
                  <a:spcPct val="0"/>
                </a:spcBef>
              </a:pPr>
              <a:r>
                <a:rPr lang="en-US" sz="3977" spc="-119" strike="noStrike" u="none">
                  <a:solidFill>
                    <a:srgbClr val="F2F5F9"/>
                  </a:solidFill>
                  <a:latin typeface="TT Fors"/>
                  <a:ea typeface="TT Fors"/>
                  <a:cs typeface="TT Fors"/>
                  <a:sym typeface="TT Fors"/>
                </a:rPr>
                <a:t>Kinh nghiệm thực tiễn</a:t>
              </a:r>
            </a:p>
          </p:txBody>
        </p:sp>
      </p:grpSp>
      <p:grpSp>
        <p:nvGrpSpPr>
          <p:cNvPr name="Group 6" id="6"/>
          <p:cNvGrpSpPr/>
          <p:nvPr/>
        </p:nvGrpSpPr>
        <p:grpSpPr>
          <a:xfrm rot="0">
            <a:off x="14744700" y="7829550"/>
            <a:ext cx="4846643" cy="1791955"/>
            <a:chOff x="0" y="0"/>
            <a:chExt cx="6462190" cy="2389273"/>
          </a:xfrm>
        </p:grpSpPr>
        <p:sp>
          <p:nvSpPr>
            <p:cNvPr name="Freeform 7" id="7"/>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2F5F9"/>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3153028" cy="4299309"/>
            <a:chOff x="0" y="0"/>
            <a:chExt cx="17537371" cy="5732412"/>
          </a:xfrm>
        </p:grpSpPr>
        <p:sp>
          <p:nvSpPr>
            <p:cNvPr name="TextBox 3" id="3"/>
            <p:cNvSpPr txBox="true"/>
            <p:nvPr/>
          </p:nvSpPr>
          <p:spPr>
            <a:xfrm rot="0">
              <a:off x="0" y="0"/>
              <a:ext cx="17537371" cy="1898889"/>
            </a:xfrm>
            <a:prstGeom prst="rect">
              <a:avLst/>
            </a:prstGeom>
          </p:spPr>
          <p:txBody>
            <a:bodyPr anchor="t" rtlCol="false" tIns="0" lIns="0" bIns="0" rIns="0">
              <a:spAutoFit/>
            </a:bodyPr>
            <a:lstStyle/>
            <a:p>
              <a:pPr algn="l" marL="0" indent="0" lvl="0">
                <a:lnSpc>
                  <a:spcPts val="9393"/>
                </a:lnSpc>
                <a:spcBef>
                  <a:spcPct val="0"/>
                </a:spcBef>
              </a:pPr>
              <a:r>
                <a:rPr lang="en-US" sz="9393" spc="-281" strike="noStrike" u="none">
                  <a:solidFill>
                    <a:srgbClr val="375A93"/>
                  </a:solidFill>
                  <a:latin typeface="ITC Avant Garde Gothic"/>
                  <a:ea typeface="ITC Avant Garde Gothic"/>
                  <a:cs typeface="ITC Avant Garde Gothic"/>
                  <a:sym typeface="ITC Avant Garde Gothic"/>
                </a:rPr>
                <a:t>Hướng phát triển dự án</a:t>
              </a:r>
            </a:p>
          </p:txBody>
        </p:sp>
        <p:sp>
          <p:nvSpPr>
            <p:cNvPr name="TextBox 4" id="4"/>
            <p:cNvSpPr txBox="true"/>
            <p:nvPr/>
          </p:nvSpPr>
          <p:spPr>
            <a:xfrm rot="0">
              <a:off x="0" y="4023509"/>
              <a:ext cx="13033727" cy="1708903"/>
            </a:xfrm>
            <a:prstGeom prst="rect">
              <a:avLst/>
            </a:prstGeom>
          </p:spPr>
          <p:txBody>
            <a:bodyPr anchor="t" rtlCol="false" tIns="0" lIns="0" bIns="0" rIns="0">
              <a:spAutoFit/>
            </a:bodyPr>
            <a:lstStyle/>
            <a:p>
              <a:pPr algn="l" marL="0" indent="0" lvl="0">
                <a:lnSpc>
                  <a:spcPts val="3452"/>
                </a:lnSpc>
              </a:pPr>
              <a:r>
                <a:rPr lang="en-US" sz="2465">
                  <a:solidFill>
                    <a:srgbClr val="375A93"/>
                  </a:solidFill>
                  <a:latin typeface="TT Fors"/>
                  <a:ea typeface="TT Fors"/>
                  <a:cs typeface="TT Fors"/>
                  <a:sym typeface="TT Fors"/>
                </a:rPr>
                <a:t>Dự án có thể được mở rộng bằng cách sử dụng ArrayList, lưu dữ liệu từ tệp hoặc cơ sở dữ liệu, cũng như phát triển giao diện GUI và thêm chức năng đăng nhập.</a:t>
              </a:r>
            </a:p>
          </p:txBody>
        </p:sp>
        <p:sp>
          <p:nvSpPr>
            <p:cNvPr name="TextBox 5" id="5"/>
            <p:cNvSpPr txBox="true"/>
            <p:nvPr/>
          </p:nvSpPr>
          <p:spPr>
            <a:xfrm rot="0">
              <a:off x="0" y="2624641"/>
              <a:ext cx="15285549" cy="760549"/>
            </a:xfrm>
            <a:prstGeom prst="rect">
              <a:avLst/>
            </a:prstGeom>
          </p:spPr>
          <p:txBody>
            <a:bodyPr anchor="t" rtlCol="false" tIns="0" lIns="0" bIns="0" rIns="0">
              <a:spAutoFit/>
            </a:bodyPr>
            <a:lstStyle/>
            <a:p>
              <a:pPr algn="l" marL="0" indent="0" lvl="0">
                <a:lnSpc>
                  <a:spcPts val="4509"/>
                </a:lnSpc>
                <a:spcBef>
                  <a:spcPct val="0"/>
                </a:spcBef>
              </a:pPr>
              <a:r>
                <a:rPr lang="en-US" sz="3757" spc="-112" strike="noStrike" u="none">
                  <a:solidFill>
                    <a:srgbClr val="375A93"/>
                  </a:solidFill>
                  <a:latin typeface="TT Fors"/>
                  <a:ea typeface="TT Fors"/>
                  <a:cs typeface="TT Fors"/>
                  <a:sym typeface="TT Fors"/>
                </a:rPr>
                <a:t>Tương lai và mở rộng</a:t>
              </a:r>
            </a:p>
          </p:txBody>
        </p:sp>
      </p:grpSp>
      <p:grpSp>
        <p:nvGrpSpPr>
          <p:cNvPr name="Group 6" id="6"/>
          <p:cNvGrpSpPr/>
          <p:nvPr/>
        </p:nvGrpSpPr>
        <p:grpSpPr>
          <a:xfrm rot="0">
            <a:off x="14744700" y="7829550"/>
            <a:ext cx="4846643" cy="1791955"/>
            <a:chOff x="0" y="0"/>
            <a:chExt cx="6462190" cy="2389273"/>
          </a:xfrm>
        </p:grpSpPr>
        <p:sp>
          <p:nvSpPr>
            <p:cNvPr name="Freeform 7" id="7"/>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375A93"/>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3695880" cy="4476750"/>
            <a:chOff x="0" y="0"/>
            <a:chExt cx="18261173" cy="5969000"/>
          </a:xfrm>
        </p:grpSpPr>
        <p:sp>
          <p:nvSpPr>
            <p:cNvPr name="TextBox 3" id="3"/>
            <p:cNvSpPr txBox="true"/>
            <p:nvPr/>
          </p:nvSpPr>
          <p:spPr>
            <a:xfrm rot="0">
              <a:off x="0" y="0"/>
              <a:ext cx="18261173" cy="1977260"/>
            </a:xfrm>
            <a:prstGeom prst="rect">
              <a:avLst/>
            </a:prstGeom>
          </p:spPr>
          <p:txBody>
            <a:bodyPr anchor="t" rtlCol="false" tIns="0" lIns="0" bIns="0" rIns="0">
              <a:spAutoFit/>
            </a:bodyPr>
            <a:lstStyle/>
            <a:p>
              <a:pPr algn="l" marL="0" indent="0" lvl="0">
                <a:lnSpc>
                  <a:spcPts val="9781"/>
                </a:lnSpc>
                <a:spcBef>
                  <a:spcPct val="0"/>
                </a:spcBef>
              </a:pPr>
              <a:r>
                <a:rPr lang="en-US" sz="9781" spc="-293" strike="noStrike" u="none">
                  <a:solidFill>
                    <a:srgbClr val="F2F5F9"/>
                  </a:solidFill>
                  <a:latin typeface="ITC Avant Garde Gothic"/>
                  <a:ea typeface="ITC Avant Garde Gothic"/>
                  <a:cs typeface="ITC Avant Garde Gothic"/>
                  <a:sym typeface="ITC Avant Garde Gothic"/>
                </a:rPr>
                <a:t>Kết luận dự án</a:t>
              </a:r>
            </a:p>
          </p:txBody>
        </p:sp>
        <p:sp>
          <p:nvSpPr>
            <p:cNvPr name="TextBox 4" id="4"/>
            <p:cNvSpPr txBox="true"/>
            <p:nvPr/>
          </p:nvSpPr>
          <p:spPr>
            <a:xfrm rot="0">
              <a:off x="0" y="4182008"/>
              <a:ext cx="13571654" cy="1786992"/>
            </a:xfrm>
            <a:prstGeom prst="rect">
              <a:avLst/>
            </a:prstGeom>
          </p:spPr>
          <p:txBody>
            <a:bodyPr anchor="t" rtlCol="false" tIns="0" lIns="0" bIns="0" rIns="0">
              <a:spAutoFit/>
            </a:bodyPr>
            <a:lstStyle/>
            <a:p>
              <a:pPr algn="l" marL="0" indent="0" lvl="0">
                <a:lnSpc>
                  <a:spcPts val="3594"/>
                </a:lnSpc>
              </a:pPr>
              <a:r>
                <a:rPr lang="en-US" sz="2567">
                  <a:solidFill>
                    <a:srgbClr val="F2F5F9"/>
                  </a:solidFill>
                  <a:latin typeface="TT Fors"/>
                  <a:ea typeface="TT Fors"/>
                  <a:cs typeface="TT Fors"/>
                  <a:sym typeface="TT Fors"/>
                </a:rPr>
                <a:t>Dự án hệ thống quản lý sinh viên đã giúp </a:t>
              </a:r>
              <a:r>
                <a:rPr lang="en-US" b="true" sz="2567">
                  <a:solidFill>
                    <a:srgbClr val="F2F5F9"/>
                  </a:solidFill>
                  <a:latin typeface="TT Fors Bold"/>
                  <a:ea typeface="TT Fors Bold"/>
                  <a:cs typeface="TT Fors Bold"/>
                  <a:sym typeface="TT Fors Bold"/>
                </a:rPr>
                <a:t>củng cố kiến thức</a:t>
              </a:r>
              <a:r>
                <a:rPr lang="en-US" sz="2567">
                  <a:solidFill>
                    <a:srgbClr val="F2F5F9"/>
                  </a:solidFill>
                  <a:latin typeface="TT Fors"/>
                  <a:ea typeface="TT Fors"/>
                  <a:cs typeface="TT Fors"/>
                  <a:sym typeface="TT Fors"/>
                </a:rPr>
                <a:t> Java Core và OOP, đồng thời mang lại nền tảng vững chắc cho các dự án nâng cao trong tương lai.</a:t>
              </a:r>
            </a:p>
          </p:txBody>
        </p:sp>
        <p:sp>
          <p:nvSpPr>
            <p:cNvPr name="TextBox 5" id="5"/>
            <p:cNvSpPr txBox="true"/>
            <p:nvPr/>
          </p:nvSpPr>
          <p:spPr>
            <a:xfrm rot="0">
              <a:off x="0" y="2742490"/>
              <a:ext cx="15916414" cy="782414"/>
            </a:xfrm>
            <a:prstGeom prst="rect">
              <a:avLst/>
            </a:prstGeom>
          </p:spPr>
          <p:txBody>
            <a:bodyPr anchor="t" rtlCol="false" tIns="0" lIns="0" bIns="0" rIns="0">
              <a:spAutoFit/>
            </a:bodyPr>
            <a:lstStyle/>
            <a:p>
              <a:pPr algn="l" marL="0" indent="0" lvl="0">
                <a:lnSpc>
                  <a:spcPts val="4695"/>
                </a:lnSpc>
                <a:spcBef>
                  <a:spcPct val="0"/>
                </a:spcBef>
              </a:pPr>
              <a:r>
                <a:rPr lang="en-US" sz="3912" spc="-117" strike="noStrike" u="none">
                  <a:solidFill>
                    <a:srgbClr val="F2F5F9"/>
                  </a:solidFill>
                  <a:latin typeface="TT Fors"/>
                  <a:ea typeface="TT Fors"/>
                  <a:cs typeface="TT Fors"/>
                  <a:sym typeface="TT Fors"/>
                </a:rPr>
                <a:t>Tổng kết và đánh giá</a:t>
              </a:r>
            </a:p>
          </p:txBody>
        </p:sp>
      </p:grpSp>
      <p:grpSp>
        <p:nvGrpSpPr>
          <p:cNvPr name="Group 6" id="6"/>
          <p:cNvGrpSpPr/>
          <p:nvPr/>
        </p:nvGrpSpPr>
        <p:grpSpPr>
          <a:xfrm rot="0">
            <a:off x="14744700" y="7829550"/>
            <a:ext cx="4846643" cy="1791955"/>
            <a:chOff x="0" y="0"/>
            <a:chExt cx="6462190" cy="2389273"/>
          </a:xfrm>
        </p:grpSpPr>
        <p:sp>
          <p:nvSpPr>
            <p:cNvPr name="Freeform 7" id="7"/>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F3C88"/>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3819535" cy="4517169"/>
            <a:chOff x="0" y="0"/>
            <a:chExt cx="18426046" cy="6022892"/>
          </a:xfrm>
        </p:grpSpPr>
        <p:sp>
          <p:nvSpPr>
            <p:cNvPr name="TextBox 3" id="3"/>
            <p:cNvSpPr txBox="true"/>
            <p:nvPr/>
          </p:nvSpPr>
          <p:spPr>
            <a:xfrm rot="0">
              <a:off x="0" y="0"/>
              <a:ext cx="18426046" cy="1995111"/>
            </a:xfrm>
            <a:prstGeom prst="rect">
              <a:avLst/>
            </a:prstGeom>
          </p:spPr>
          <p:txBody>
            <a:bodyPr anchor="t" rtlCol="false" tIns="0" lIns="0" bIns="0" rIns="0">
              <a:spAutoFit/>
            </a:bodyPr>
            <a:lstStyle/>
            <a:p>
              <a:pPr algn="l" marL="0" indent="0" lvl="0">
                <a:lnSpc>
                  <a:spcPts val="9869"/>
                </a:lnSpc>
                <a:spcBef>
                  <a:spcPct val="0"/>
                </a:spcBef>
              </a:pPr>
              <a:r>
                <a:rPr lang="en-US" sz="9869" spc="-296" strike="noStrike" u="none">
                  <a:solidFill>
                    <a:srgbClr val="F2F5F9"/>
                  </a:solidFill>
                  <a:latin typeface="ITC Avant Garde Gothic"/>
                  <a:ea typeface="ITC Avant Garde Gothic"/>
                  <a:cs typeface="ITC Avant Garde Gothic"/>
                  <a:sym typeface="ITC Avant Garde Gothic"/>
                </a:rPr>
                <a:t>Cảm ơn sự chú ý</a:t>
              </a:r>
            </a:p>
          </p:txBody>
        </p:sp>
        <p:sp>
          <p:nvSpPr>
            <p:cNvPr name="TextBox 4" id="4"/>
            <p:cNvSpPr txBox="true"/>
            <p:nvPr/>
          </p:nvSpPr>
          <p:spPr>
            <a:xfrm rot="0">
              <a:off x="0" y="4229806"/>
              <a:ext cx="13694187" cy="1793085"/>
            </a:xfrm>
            <a:prstGeom prst="rect">
              <a:avLst/>
            </a:prstGeom>
          </p:spPr>
          <p:txBody>
            <a:bodyPr anchor="t" rtlCol="false" tIns="0" lIns="0" bIns="0" rIns="0">
              <a:spAutoFit/>
            </a:bodyPr>
            <a:lstStyle/>
            <a:p>
              <a:pPr algn="l" marL="0" indent="0" lvl="0">
                <a:lnSpc>
                  <a:spcPts val="3627"/>
                </a:lnSpc>
              </a:pPr>
              <a:r>
                <a:rPr lang="en-US" sz="2590">
                  <a:solidFill>
                    <a:srgbClr val="F2F5F9"/>
                  </a:solidFill>
                  <a:latin typeface="TT Fors"/>
                  <a:ea typeface="TT Fors"/>
                  <a:cs typeface="TT Fors"/>
                  <a:sym typeface="TT Fors"/>
                </a:rPr>
                <a:t>Xin chân thành cảm ơn các bạn đã lắng nghe bài thuyết trình này. Hy vọng thông tin đã cung cấp hữu ích và mở ra cơ hội thảo luận tiếp theo.</a:t>
              </a:r>
            </a:p>
          </p:txBody>
        </p:sp>
        <p:sp>
          <p:nvSpPr>
            <p:cNvPr name="TextBox 5" id="5"/>
            <p:cNvSpPr txBox="true"/>
            <p:nvPr/>
          </p:nvSpPr>
          <p:spPr>
            <a:xfrm rot="0">
              <a:off x="0" y="2757640"/>
              <a:ext cx="16060117" cy="799089"/>
            </a:xfrm>
            <a:prstGeom prst="rect">
              <a:avLst/>
            </a:prstGeom>
          </p:spPr>
          <p:txBody>
            <a:bodyPr anchor="t" rtlCol="false" tIns="0" lIns="0" bIns="0" rIns="0">
              <a:spAutoFit/>
            </a:bodyPr>
            <a:lstStyle/>
            <a:p>
              <a:pPr algn="l" marL="0" indent="0" lvl="0">
                <a:lnSpc>
                  <a:spcPts val="4737"/>
                </a:lnSpc>
                <a:spcBef>
                  <a:spcPct val="0"/>
                </a:spcBef>
              </a:pPr>
              <a:r>
                <a:rPr lang="en-US" sz="3947" spc="-118" strike="noStrike" u="none">
                  <a:solidFill>
                    <a:srgbClr val="F2F5F9"/>
                  </a:solidFill>
                  <a:latin typeface="TT Fors"/>
                  <a:ea typeface="TT Fors"/>
                  <a:cs typeface="TT Fors"/>
                  <a:sym typeface="TT Fors"/>
                </a:rPr>
                <a:t>Trân trọng và biết ơn</a:t>
              </a:r>
            </a:p>
          </p:txBody>
        </p:sp>
      </p:grpSp>
      <p:grpSp>
        <p:nvGrpSpPr>
          <p:cNvPr name="Group 6" id="6"/>
          <p:cNvGrpSpPr/>
          <p:nvPr/>
        </p:nvGrpSpPr>
        <p:grpSpPr>
          <a:xfrm rot="0">
            <a:off x="14744700" y="7829550"/>
            <a:ext cx="4846643" cy="1791955"/>
            <a:chOff x="0" y="0"/>
            <a:chExt cx="6462190" cy="2389273"/>
          </a:xfrm>
        </p:grpSpPr>
        <p:sp>
          <p:nvSpPr>
            <p:cNvPr name="Freeform 7" id="7"/>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2F5F9"/>
        </a:solidFill>
      </p:bgPr>
    </p:bg>
    <p:spTree>
      <p:nvGrpSpPr>
        <p:cNvPr id="1" name=""/>
        <p:cNvGrpSpPr/>
        <p:nvPr/>
      </p:nvGrpSpPr>
      <p:grpSpPr>
        <a:xfrm>
          <a:off x="0" y="0"/>
          <a:ext cx="0" cy="0"/>
          <a:chOff x="0" y="0"/>
          <a:chExt cx="0" cy="0"/>
        </a:xfrm>
      </p:grpSpPr>
      <p:grpSp>
        <p:nvGrpSpPr>
          <p:cNvPr name="Group 2" id="2"/>
          <p:cNvGrpSpPr/>
          <p:nvPr/>
        </p:nvGrpSpPr>
        <p:grpSpPr>
          <a:xfrm rot="0">
            <a:off x="10429875" y="0"/>
            <a:ext cx="7858125" cy="10287000"/>
            <a:chOff x="0" y="0"/>
            <a:chExt cx="1764443" cy="2309817"/>
          </a:xfrm>
        </p:grpSpPr>
        <p:sp>
          <p:nvSpPr>
            <p:cNvPr name="Freeform 3" id="3"/>
            <p:cNvSpPr/>
            <p:nvPr/>
          </p:nvSpPr>
          <p:spPr>
            <a:xfrm flipH="false" flipV="false" rot="0">
              <a:off x="0" y="0"/>
              <a:ext cx="1764443" cy="2309817"/>
            </a:xfrm>
            <a:custGeom>
              <a:avLst/>
              <a:gdLst/>
              <a:ahLst/>
              <a:cxnLst/>
              <a:rect r="r" b="b" t="t" l="l"/>
              <a:pathLst>
                <a:path h="2309817" w="1764443">
                  <a:moveTo>
                    <a:pt x="0" y="0"/>
                  </a:moveTo>
                  <a:lnTo>
                    <a:pt x="1764443" y="0"/>
                  </a:lnTo>
                  <a:lnTo>
                    <a:pt x="1764443" y="2309817"/>
                  </a:lnTo>
                  <a:lnTo>
                    <a:pt x="0" y="2309817"/>
                  </a:lnTo>
                  <a:close/>
                </a:path>
              </a:pathLst>
            </a:custGeom>
            <a:blipFill>
              <a:blip r:embed="rId2"/>
              <a:stretch>
                <a:fillRect l="0" t="-255" r="0" b="-255"/>
              </a:stretch>
            </a:blipFill>
          </p:spPr>
        </p:sp>
      </p:grpSp>
      <p:grpSp>
        <p:nvGrpSpPr>
          <p:cNvPr name="Group 4" id="4"/>
          <p:cNvGrpSpPr/>
          <p:nvPr/>
        </p:nvGrpSpPr>
        <p:grpSpPr>
          <a:xfrm rot="0">
            <a:off x="666750" y="666750"/>
            <a:ext cx="8324850" cy="3171825"/>
            <a:chOff x="0" y="0"/>
            <a:chExt cx="11099800" cy="4229100"/>
          </a:xfrm>
        </p:grpSpPr>
        <p:sp>
          <p:nvSpPr>
            <p:cNvPr name="TextBox 5" id="5"/>
            <p:cNvSpPr txBox="true"/>
            <p:nvPr/>
          </p:nvSpPr>
          <p:spPr>
            <a:xfrm rot="0">
              <a:off x="0" y="-9525"/>
              <a:ext cx="11099800" cy="2972859"/>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375A93"/>
                  </a:solidFill>
                  <a:latin typeface="ITC Avant Garde Gothic"/>
                  <a:ea typeface="ITC Avant Garde Gothic"/>
                  <a:cs typeface="ITC Avant Garde Gothic"/>
                  <a:sym typeface="ITC Avant Garde Gothic"/>
                </a:rPr>
                <a:t>Any questions for me?</a:t>
              </a:r>
            </a:p>
          </p:txBody>
        </p:sp>
        <p:sp>
          <p:nvSpPr>
            <p:cNvPr name="TextBox 6" id="6"/>
            <p:cNvSpPr txBox="true"/>
            <p:nvPr/>
          </p:nvSpPr>
          <p:spPr>
            <a:xfrm rot="0">
              <a:off x="0" y="3514725"/>
              <a:ext cx="11068284" cy="714375"/>
            </a:xfrm>
            <a:prstGeom prst="rect">
              <a:avLst/>
            </a:prstGeom>
          </p:spPr>
          <p:txBody>
            <a:bodyPr anchor="t" rtlCol="false" tIns="0" lIns="0" bIns="0" rIns="0">
              <a:spAutoFit/>
            </a:bodyPr>
            <a:lstStyle/>
            <a:p>
              <a:pPr algn="l" marL="0" indent="0" lvl="0">
                <a:lnSpc>
                  <a:spcPts val="3839"/>
                </a:lnSpc>
                <a:spcBef>
                  <a:spcPct val="0"/>
                </a:spcBef>
              </a:pPr>
              <a:r>
                <a:rPr lang="en-US" sz="3199" spc="-95" strike="noStrike" u="none">
                  <a:solidFill>
                    <a:srgbClr val="375A93"/>
                  </a:solidFill>
                  <a:latin typeface="ITC Avant Garde Gothic"/>
                  <a:ea typeface="ITC Avant Garde Gothic"/>
                  <a:cs typeface="ITC Avant Garde Gothic"/>
                  <a:sym typeface="ITC Avant Garde Gothic"/>
                </a:rPr>
                <a:t>Feel free to ask about the project details</a:t>
              </a:r>
            </a:p>
          </p:txBody>
        </p:sp>
      </p:grpSp>
      <p:grpSp>
        <p:nvGrpSpPr>
          <p:cNvPr name="Group 7" id="7"/>
          <p:cNvGrpSpPr/>
          <p:nvPr/>
        </p:nvGrpSpPr>
        <p:grpSpPr>
          <a:xfrm rot="0">
            <a:off x="-1303343" y="7829550"/>
            <a:ext cx="4846643" cy="1791955"/>
            <a:chOff x="0" y="0"/>
            <a:chExt cx="6462190" cy="2389273"/>
          </a:xfrm>
        </p:grpSpPr>
        <p:sp>
          <p:nvSpPr>
            <p:cNvPr name="Freeform 8" id="8"/>
            <p:cNvSpPr/>
            <p:nvPr/>
          </p:nvSpPr>
          <p:spPr>
            <a:xfrm flipH="false" flipV="false" rot="0">
              <a:off x="0"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036459"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4072917" y="0"/>
              <a:ext cx="2389273" cy="2389273"/>
            </a:xfrm>
            <a:custGeom>
              <a:avLst/>
              <a:gdLst/>
              <a:ahLst/>
              <a:cxnLst/>
              <a:rect r="r" b="b" t="t" l="l"/>
              <a:pathLst>
                <a:path h="2389273" w="2389273">
                  <a:moveTo>
                    <a:pt x="0" y="0"/>
                  </a:moveTo>
                  <a:lnTo>
                    <a:pt x="2389273" y="0"/>
                  </a:lnTo>
                  <a:lnTo>
                    <a:pt x="2389273" y="2389273"/>
                  </a:lnTo>
                  <a:lnTo>
                    <a:pt x="0" y="23892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Bài thuyết trình - Báo cáo mini project</dc:description>
  <dc:identifier>DAHAMFZ68jI</dc:identifier>
  <dcterms:modified xsi:type="dcterms:W3CDTF">2011-08-01T06:04:30Z</dcterms:modified>
  <cp:revision>1</cp:revision>
  <dc:title>Bài thuyết trình - Báo cáo mini project</dc:title>
</cp:coreProperties>
</file>