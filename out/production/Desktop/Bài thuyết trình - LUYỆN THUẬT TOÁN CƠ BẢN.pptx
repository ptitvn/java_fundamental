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ITC Avant Garde Gothic" charset="1" panose="020B0502020202020204"/>
      <p:regular r:id="rId33"/>
    </p:embeddedFont>
    <p:embeddedFont>
      <p:font typeface="TT Fors" charset="1" panose="020B0003030001020000"/>
      <p:regular r:id="rId34"/>
    </p:embeddedFont>
    <p:embeddedFont>
      <p:font typeface="TT Fors Bold" charset="1" panose="020B000303000102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11868150" y="0"/>
            <a:ext cx="6419850" cy="10287000"/>
            <a:chOff x="0" y="0"/>
            <a:chExt cx="994603" cy="1593725"/>
          </a:xfrm>
        </p:grpSpPr>
        <p:sp>
          <p:nvSpPr>
            <p:cNvPr name="Freeform 3" id="3"/>
            <p:cNvSpPr/>
            <p:nvPr/>
          </p:nvSpPr>
          <p:spPr>
            <a:xfrm flipH="false" flipV="false" rot="0">
              <a:off x="0" y="0"/>
              <a:ext cx="994603" cy="1593725"/>
            </a:xfrm>
            <a:custGeom>
              <a:avLst/>
              <a:gdLst/>
              <a:ahLst/>
              <a:cxnLst/>
              <a:rect r="r" b="b" t="t" l="l"/>
              <a:pathLst>
                <a:path h="1593725" w="994603">
                  <a:moveTo>
                    <a:pt x="0" y="0"/>
                  </a:moveTo>
                  <a:lnTo>
                    <a:pt x="994603" y="0"/>
                  </a:lnTo>
                  <a:lnTo>
                    <a:pt x="994603" y="1593725"/>
                  </a:lnTo>
                  <a:lnTo>
                    <a:pt x="0" y="1593725"/>
                  </a:lnTo>
                  <a:close/>
                </a:path>
              </a:pathLst>
            </a:custGeom>
            <a:blipFill>
              <a:blip r:embed="rId2"/>
              <a:stretch>
                <a:fillRect l="0" t="-126" r="0" b="-126"/>
              </a:stretch>
            </a:blipFill>
          </p:spPr>
        </p:sp>
      </p:grpSp>
      <p:grpSp>
        <p:nvGrpSpPr>
          <p:cNvPr name="Group 4" id="4"/>
          <p:cNvGrpSpPr/>
          <p:nvPr/>
        </p:nvGrpSpPr>
        <p:grpSpPr>
          <a:xfrm rot="0">
            <a:off x="666750" y="666750"/>
            <a:ext cx="9763125" cy="3682999"/>
            <a:chOff x="0" y="0"/>
            <a:chExt cx="13017500" cy="4910666"/>
          </a:xfrm>
        </p:grpSpPr>
        <p:sp>
          <p:nvSpPr>
            <p:cNvPr name="TextBox 5" id="5"/>
            <p:cNvSpPr txBox="true"/>
            <p:nvPr/>
          </p:nvSpPr>
          <p:spPr>
            <a:xfrm rot="0">
              <a:off x="0" y="1184275"/>
              <a:ext cx="13017500" cy="3726391"/>
            </a:xfrm>
            <a:prstGeom prst="rect">
              <a:avLst/>
            </a:prstGeom>
          </p:spPr>
          <p:txBody>
            <a:bodyPr anchor="t" rtlCol="false" tIns="0" lIns="0" bIns="0" rIns="0">
              <a:spAutoFit/>
            </a:bodyPr>
            <a:lstStyle/>
            <a:p>
              <a:pPr algn="l" marL="0" indent="0" lvl="0">
                <a:lnSpc>
                  <a:spcPts val="9999"/>
                </a:lnSpc>
              </a:pPr>
              <a:r>
                <a:rPr lang="en-US" sz="9999" spc="-299">
                  <a:solidFill>
                    <a:srgbClr val="ECF0F1"/>
                  </a:solidFill>
                  <a:latin typeface="ITC Avant Garde Gothic"/>
                  <a:ea typeface="ITC Avant Garde Gothic"/>
                  <a:cs typeface="ITC Avant Garde Gothic"/>
                  <a:sym typeface="ITC Avant Garde Gothic"/>
                </a:rPr>
                <a:t>TỔNG QUAN JAVA </a:t>
              </a:r>
              <a:r>
                <a:rPr lang="en-US" sz="9999" spc="-299">
                  <a:solidFill>
                    <a:srgbClr val="ECF0F1"/>
                  </a:solidFill>
                  <a:latin typeface="ITC Avant Garde Gothic"/>
                  <a:ea typeface="ITC Avant Garde Gothic"/>
                  <a:cs typeface="ITC Avant Garde Gothic"/>
                  <a:sym typeface="ITC Avant Garde Gothic"/>
                </a:rPr>
                <a:t>CƠ BẢN</a:t>
              </a:r>
            </a:p>
          </p:txBody>
        </p:sp>
        <p:sp>
          <p:nvSpPr>
            <p:cNvPr name="TextBox 6" id="6"/>
            <p:cNvSpPr txBox="true"/>
            <p:nvPr/>
          </p:nvSpPr>
          <p:spPr>
            <a:xfrm rot="0">
              <a:off x="0" y="-104775"/>
              <a:ext cx="13017500" cy="626322"/>
            </a:xfrm>
            <a:prstGeom prst="rect">
              <a:avLst/>
            </a:prstGeom>
          </p:spPr>
          <p:txBody>
            <a:bodyPr anchor="t" rtlCol="false" tIns="0" lIns="0" bIns="0" rIns="0">
              <a:spAutoFit/>
            </a:bodyPr>
            <a:lstStyle/>
            <a:p>
              <a:pPr algn="l" marL="0" indent="0" lvl="0">
                <a:lnSpc>
                  <a:spcPts val="3640"/>
                </a:lnSpc>
                <a:spcBef>
                  <a:spcPct val="0"/>
                </a:spcBef>
              </a:pPr>
              <a:r>
                <a:rPr lang="en-US" sz="2600">
                  <a:solidFill>
                    <a:srgbClr val="3498DB"/>
                  </a:solidFill>
                  <a:latin typeface="ITC Avant Garde Gothic"/>
                  <a:ea typeface="ITC Avant Garde Gothic"/>
                  <a:cs typeface="ITC Avant Garde Gothic"/>
                  <a:sym typeface="ITC Avant Garde Gothic"/>
                </a:rPr>
                <a:t>ỨNG DỤNG JAVA CONSOLE</a:t>
              </a:r>
            </a:p>
          </p:txBody>
        </p:sp>
      </p:grpSp>
      <p:sp>
        <p:nvSpPr>
          <p:cNvPr name="TextBox 7" id="7"/>
          <p:cNvSpPr txBox="true"/>
          <p:nvPr/>
        </p:nvSpPr>
        <p:spPr>
          <a:xfrm rot="0">
            <a:off x="666750" y="4386530"/>
            <a:ext cx="7148333" cy="895599"/>
          </a:xfrm>
          <a:prstGeom prst="rect">
            <a:avLst/>
          </a:prstGeom>
        </p:spPr>
        <p:txBody>
          <a:bodyPr anchor="t" rtlCol="false" tIns="0" lIns="0" bIns="0" rIns="0">
            <a:spAutoFit/>
          </a:bodyPr>
          <a:lstStyle/>
          <a:p>
            <a:pPr algn="l">
              <a:lnSpc>
                <a:spcPts val="3638"/>
              </a:lnSpc>
            </a:pPr>
            <a:r>
              <a:rPr lang="en-US" sz="2598">
                <a:solidFill>
                  <a:srgbClr val="ECF0F1"/>
                </a:solidFill>
                <a:latin typeface="TT Fors"/>
                <a:ea typeface="TT Fors"/>
                <a:cs typeface="TT Fors"/>
                <a:sym typeface="TT Fors"/>
              </a:rPr>
              <a:t>Nhóm HN-K24-CNTT5-G4</a:t>
            </a:r>
          </a:p>
          <a:p>
            <a:pPr algn="l" marL="0" indent="0" lvl="0">
              <a:lnSpc>
                <a:spcPts val="3638"/>
              </a:lnSpc>
            </a:pPr>
          </a:p>
        </p:txBody>
      </p:sp>
      <p:grpSp>
        <p:nvGrpSpPr>
          <p:cNvPr name="Group 8" id="8"/>
          <p:cNvGrpSpPr/>
          <p:nvPr/>
        </p:nvGrpSpPr>
        <p:grpSpPr>
          <a:xfrm rot="0">
            <a:off x="9444829" y="7829550"/>
            <a:ext cx="4846643" cy="1791955"/>
            <a:chOff x="0" y="0"/>
            <a:chExt cx="6462190" cy="2389273"/>
          </a:xfrm>
        </p:grpSpPr>
        <p:sp>
          <p:nvSpPr>
            <p:cNvPr name="Freeform 9" id="9"/>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TextBox 12" id="12"/>
          <p:cNvSpPr txBox="true"/>
          <p:nvPr/>
        </p:nvSpPr>
        <p:spPr>
          <a:xfrm rot="0">
            <a:off x="666750" y="5391237"/>
            <a:ext cx="7148333" cy="2723566"/>
          </a:xfrm>
          <a:prstGeom prst="rect">
            <a:avLst/>
          </a:prstGeom>
        </p:spPr>
        <p:txBody>
          <a:bodyPr anchor="t" rtlCol="false" tIns="0" lIns="0" bIns="0" rIns="0">
            <a:spAutoFit/>
          </a:bodyPr>
          <a:lstStyle/>
          <a:p>
            <a:pPr algn="l">
              <a:lnSpc>
                <a:spcPts val="3638"/>
              </a:lnSpc>
            </a:pPr>
            <a:r>
              <a:rPr lang="en-US" sz="2598">
                <a:solidFill>
                  <a:srgbClr val="ECF0F1"/>
                </a:solidFill>
                <a:latin typeface="TT Fors"/>
                <a:ea typeface="TT Fors"/>
                <a:cs typeface="TT Fors"/>
                <a:sym typeface="TT Fors"/>
              </a:rPr>
              <a:t>Nguyễn Khắc Hưng(Nhóm trưởng)</a:t>
            </a:r>
          </a:p>
          <a:p>
            <a:pPr algn="l">
              <a:lnSpc>
                <a:spcPts val="3638"/>
              </a:lnSpc>
            </a:pPr>
            <a:r>
              <a:rPr lang="en-US" sz="2598">
                <a:solidFill>
                  <a:srgbClr val="ECF0F1"/>
                </a:solidFill>
                <a:latin typeface="TT Fors"/>
                <a:ea typeface="TT Fors"/>
                <a:cs typeface="TT Fors"/>
                <a:sym typeface="TT Fors"/>
              </a:rPr>
              <a:t>Bùi Văn Phương(Nhóm Phó)</a:t>
            </a:r>
          </a:p>
          <a:p>
            <a:pPr algn="l">
              <a:lnSpc>
                <a:spcPts val="3638"/>
              </a:lnSpc>
            </a:pPr>
            <a:r>
              <a:rPr lang="en-US" sz="2598">
                <a:solidFill>
                  <a:srgbClr val="ECF0F1"/>
                </a:solidFill>
                <a:latin typeface="TT Fors"/>
                <a:ea typeface="TT Fors"/>
                <a:cs typeface="TT Fors"/>
                <a:sym typeface="TT Fors"/>
              </a:rPr>
              <a:t>Lê Trung Đông</a:t>
            </a:r>
          </a:p>
          <a:p>
            <a:pPr algn="l">
              <a:lnSpc>
                <a:spcPts val="3638"/>
              </a:lnSpc>
            </a:pPr>
            <a:r>
              <a:rPr lang="en-US" sz="2598">
                <a:solidFill>
                  <a:srgbClr val="ECF0F1"/>
                </a:solidFill>
                <a:latin typeface="TT Fors"/>
                <a:ea typeface="TT Fors"/>
                <a:cs typeface="TT Fors"/>
                <a:sym typeface="TT Fors"/>
              </a:rPr>
              <a:t>Thái Hồng Đức</a:t>
            </a:r>
          </a:p>
          <a:p>
            <a:pPr algn="l">
              <a:lnSpc>
                <a:spcPts val="3638"/>
              </a:lnSpc>
            </a:pPr>
            <a:r>
              <a:rPr lang="en-US" sz="2598">
                <a:solidFill>
                  <a:srgbClr val="ECF0F1"/>
                </a:solidFill>
                <a:latin typeface="TT Fors"/>
                <a:ea typeface="TT Fors"/>
                <a:cs typeface="TT Fors"/>
                <a:sym typeface="TT Fors"/>
              </a:rPr>
              <a:t>Hoàng Trung Dũng</a:t>
            </a:r>
          </a:p>
          <a:p>
            <a:pPr algn="l" marL="0" indent="0" lvl="0">
              <a:lnSpc>
                <a:spcPts val="3638"/>
              </a:lnSpc>
            </a:pPr>
            <a:r>
              <a:rPr lang="en-US" sz="2598">
                <a:solidFill>
                  <a:srgbClr val="ECF0F1"/>
                </a:solidFill>
                <a:latin typeface="TT Fors"/>
                <a:ea typeface="TT Fors"/>
                <a:cs typeface="TT Fors"/>
                <a:sym typeface="TT Fors"/>
              </a:rPr>
              <a:t>Đỗ Ngọc Dân</a:t>
            </a:r>
          </a:p>
        </p:txBody>
      </p:sp>
      <p:sp>
        <p:nvSpPr>
          <p:cNvPr name="TextBox 13" id="13"/>
          <p:cNvSpPr txBox="true"/>
          <p:nvPr/>
        </p:nvSpPr>
        <p:spPr>
          <a:xfrm rot="0">
            <a:off x="6606543" y="4810517"/>
            <a:ext cx="7148333" cy="895599"/>
          </a:xfrm>
          <a:prstGeom prst="rect">
            <a:avLst/>
          </a:prstGeom>
        </p:spPr>
        <p:txBody>
          <a:bodyPr anchor="t" rtlCol="false" tIns="0" lIns="0" bIns="0" rIns="0">
            <a:spAutoFit/>
          </a:bodyPr>
          <a:lstStyle/>
          <a:p>
            <a:pPr algn="l">
              <a:lnSpc>
                <a:spcPts val="3638"/>
              </a:lnSpc>
            </a:pPr>
            <a:r>
              <a:rPr lang="en-US" sz="2598">
                <a:solidFill>
                  <a:srgbClr val="ECF0F1"/>
                </a:solidFill>
                <a:latin typeface="TT Fors"/>
                <a:ea typeface="TT Fors"/>
                <a:cs typeface="TT Fors"/>
                <a:sym typeface="TT Fors"/>
              </a:rPr>
              <a:t>Phạm Tuấn Bình(Giảng viên)</a:t>
            </a:r>
          </a:p>
          <a:p>
            <a:pPr algn="l" marL="0" indent="0" lvl="0">
              <a:lnSpc>
                <a:spcPts val="3638"/>
              </a:lnSpc>
            </a:pPr>
            <a:r>
              <a:rPr lang="en-US" sz="2598">
                <a:solidFill>
                  <a:srgbClr val="ECF0F1"/>
                </a:solidFill>
                <a:latin typeface="TT Fors"/>
                <a:ea typeface="TT Fors"/>
                <a:cs typeface="TT Fors"/>
                <a:sym typeface="TT Fors"/>
              </a:rPr>
              <a:t>Mai Xuân Chinh(Trợ giảng)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886575" cy="3070860"/>
            <a:chOff x="0" y="0"/>
            <a:chExt cx="9182100" cy="4094480"/>
          </a:xfrm>
        </p:grpSpPr>
        <p:sp>
          <p:nvSpPr>
            <p:cNvPr name="TextBox 3" id="3"/>
            <p:cNvSpPr txBox="true"/>
            <p:nvPr/>
          </p:nvSpPr>
          <p:spPr>
            <a:xfrm rot="0">
              <a:off x="0" y="1155700"/>
              <a:ext cx="91821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Nhiều sinh viên hiện nay đã nắm vững </a:t>
              </a:r>
              <a:r>
                <a:rPr lang="en-US" b="true" sz="2100">
                  <a:solidFill>
                    <a:srgbClr val="ECF0F1"/>
                  </a:solidFill>
                  <a:latin typeface="TT Fors Bold"/>
                  <a:ea typeface="TT Fors Bold"/>
                  <a:cs typeface="TT Fors Bold"/>
                  <a:sym typeface="TT Fors Bold"/>
                </a:rPr>
                <a:t>các kiến thức cơ bản</a:t>
              </a:r>
              <a:r>
                <a:rPr lang="en-US" sz="2100">
                  <a:solidFill>
                    <a:srgbClr val="ECF0F1"/>
                  </a:solidFill>
                  <a:latin typeface="TT Fors"/>
                  <a:ea typeface="TT Fors"/>
                  <a:cs typeface="TT Fors"/>
                  <a:sym typeface="TT Fors"/>
                </a:rPr>
                <a:t> về Java nhưng vẫn gặp khó khăn trong việc áp dụng vào giải quyết bài toán thuật toán. Việc thiếu sót trong kỹ năng </a:t>
              </a:r>
              <a:r>
                <a:rPr lang="en-US" b="true" sz="2100">
                  <a:solidFill>
                    <a:srgbClr val="ECF0F1"/>
                  </a:solidFill>
                  <a:latin typeface="TT Fors Bold"/>
                  <a:ea typeface="TT Fors Bold"/>
                  <a:cs typeface="TT Fors Bold"/>
                  <a:sym typeface="TT Fors Bold"/>
                </a:rPr>
                <a:t>giải quyết vấn đề</a:t>
              </a:r>
              <a:r>
                <a:rPr lang="en-US" sz="2100">
                  <a:solidFill>
                    <a:srgbClr val="ECF0F1"/>
                  </a:solidFill>
                  <a:latin typeface="TT Fors"/>
                  <a:ea typeface="TT Fors"/>
                  <a:cs typeface="TT Fors"/>
                  <a:sym typeface="TT Fors"/>
                </a:rPr>
                <a:t> và tư duy logic có thể dẫn đến sự thiếu tự tin khi làm bài trong các kỳ phỏng vấn công việc.</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Yếu về thuật toán</a:t>
              </a:r>
            </a:p>
          </p:txBody>
        </p:sp>
      </p:grpSp>
      <p:grpSp>
        <p:nvGrpSpPr>
          <p:cNvPr name="Group 5" id="5"/>
          <p:cNvGrpSpPr/>
          <p:nvPr/>
        </p:nvGrpSpPr>
        <p:grpSpPr>
          <a:xfrm rot="0">
            <a:off x="9296400" y="5143500"/>
            <a:ext cx="6886575" cy="3070860"/>
            <a:chOff x="0" y="0"/>
            <a:chExt cx="9182100" cy="4094480"/>
          </a:xfrm>
        </p:grpSpPr>
        <p:sp>
          <p:nvSpPr>
            <p:cNvPr name="TextBox 6" id="6"/>
            <p:cNvSpPr txBox="true"/>
            <p:nvPr/>
          </p:nvSpPr>
          <p:spPr>
            <a:xfrm rot="0">
              <a:off x="0" y="1155700"/>
              <a:ext cx="91821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LeetCode được công nhận là một trong những nền tảng hàng đầu để luyện tập </a:t>
              </a:r>
              <a:r>
                <a:rPr lang="en-US" b="true" sz="2100">
                  <a:solidFill>
                    <a:srgbClr val="ECF0F1"/>
                  </a:solidFill>
                  <a:latin typeface="TT Fors Bold"/>
                  <a:ea typeface="TT Fors Bold"/>
                  <a:cs typeface="TT Fors Bold"/>
                  <a:sym typeface="TT Fors Bold"/>
                </a:rPr>
                <a:t>thuật toán và cấu trúc dữ liệu</a:t>
              </a:r>
              <a:r>
                <a:rPr lang="en-US" sz="2100">
                  <a:solidFill>
                    <a:srgbClr val="ECF0F1"/>
                  </a:solidFill>
                  <a:latin typeface="TT Fors"/>
                  <a:ea typeface="TT Fors"/>
                  <a:cs typeface="TT Fors"/>
                  <a:sym typeface="TT Fors"/>
                </a:rPr>
                <a:t>. Nó cung cấp nhiều bài tập đa dạng, giúp sinh viên cải thiện kỹ năng giải quyết vấn đề và chuẩn bị tốt cho các cuộc phỏng vấn IT thực tế, kết nối chặt chẽ giữa lý thuyết và thực hành.</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LeetCode là nền tảng</a:t>
              </a:r>
            </a:p>
          </p:txBody>
        </p:sp>
      </p:grpSp>
      <p:grpSp>
        <p:nvGrpSpPr>
          <p:cNvPr name="Group 8" id="8"/>
          <p:cNvGrpSpPr/>
          <p:nvPr/>
        </p:nvGrpSpPr>
        <p:grpSpPr>
          <a:xfrm rot="0">
            <a:off x="666750" y="666750"/>
            <a:ext cx="11201400" cy="2162175"/>
            <a:chOff x="0" y="0"/>
            <a:chExt cx="14935200" cy="2882900"/>
          </a:xfrm>
        </p:grpSpPr>
        <p:sp>
          <p:nvSpPr>
            <p:cNvPr name="TextBox 9" id="9"/>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Lý do chọn đề tài</a:t>
              </a:r>
            </a:p>
          </p:txBody>
        </p:sp>
        <p:sp>
          <p:nvSpPr>
            <p:cNvPr name="TextBox 10" id="10"/>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Kết nối kiến thức Java</a:t>
              </a:r>
            </a:p>
          </p:txBody>
        </p:sp>
      </p:grpSp>
      <p:grpSp>
        <p:nvGrpSpPr>
          <p:cNvPr name="Group 11" id="11"/>
          <p:cNvGrpSpPr/>
          <p:nvPr/>
        </p:nvGrpSpPr>
        <p:grpSpPr>
          <a:xfrm rot="0">
            <a:off x="15430959" y="752281"/>
            <a:ext cx="2190291" cy="809819"/>
            <a:chOff x="0" y="0"/>
            <a:chExt cx="2920388" cy="1079758"/>
          </a:xfrm>
        </p:grpSpPr>
        <p:sp>
          <p:nvSpPr>
            <p:cNvPr name="Freeform 12" id="12"/>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4010025" cy="2699385"/>
            <a:chOff x="0" y="0"/>
            <a:chExt cx="5346700" cy="3599180"/>
          </a:xfrm>
        </p:grpSpPr>
        <p:sp>
          <p:nvSpPr>
            <p:cNvPr name="TextBox 3" id="3"/>
            <p:cNvSpPr txBox="true"/>
            <p:nvPr/>
          </p:nvSpPr>
          <p:spPr>
            <a:xfrm rot="0">
              <a:off x="0" y="1155700"/>
              <a:ext cx="53467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Sinh viên cần </a:t>
              </a:r>
              <a:r>
                <a:rPr lang="en-US" b="true" sz="2100">
                  <a:solidFill>
                    <a:srgbClr val="ECF0F1"/>
                  </a:solidFill>
                  <a:latin typeface="TT Fors Bold"/>
                  <a:ea typeface="TT Fors Bold"/>
                  <a:cs typeface="TT Fors Bold"/>
                  <a:sym typeface="TT Fors Bold"/>
                </a:rPr>
                <a:t>nắm vững</a:t>
              </a:r>
              <a:r>
                <a:rPr lang="en-US" sz="2100">
                  <a:solidFill>
                    <a:srgbClr val="ECF0F1"/>
                  </a:solidFill>
                  <a:latin typeface="TT Fors"/>
                  <a:ea typeface="TT Fors"/>
                  <a:cs typeface="TT Fors"/>
                  <a:sym typeface="TT Fors"/>
                </a:rPr>
                <a:t> cách thao tác với mảng, từ việc duyệt đến xử lý dữ liệu, giúp xây dựng nền tảng vững chắc cho các thuật toán phức tạp hơn.</a:t>
              </a:r>
            </a:p>
          </p:txBody>
        </p:sp>
        <p:sp>
          <p:nvSpPr>
            <p:cNvPr name="TextBox 4" id="4"/>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Thành thạo Mảng</a:t>
              </a:r>
            </a:p>
          </p:txBody>
        </p:sp>
      </p:grpSp>
      <p:grpSp>
        <p:nvGrpSpPr>
          <p:cNvPr name="Group 5" id="5"/>
          <p:cNvGrpSpPr/>
          <p:nvPr/>
        </p:nvGrpSpPr>
        <p:grpSpPr>
          <a:xfrm rot="0">
            <a:off x="6419850" y="5143500"/>
            <a:ext cx="4010025" cy="3070860"/>
            <a:chOff x="0" y="0"/>
            <a:chExt cx="5346700" cy="4094480"/>
          </a:xfrm>
        </p:grpSpPr>
        <p:sp>
          <p:nvSpPr>
            <p:cNvPr name="TextBox 6" id="6"/>
            <p:cNvSpPr txBox="true"/>
            <p:nvPr/>
          </p:nvSpPr>
          <p:spPr>
            <a:xfrm rot="0">
              <a:off x="0" y="1155700"/>
              <a:ext cx="53467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Sinh viên</a:t>
              </a:r>
              <a:r>
                <a:rPr lang="en-US" sz="2100">
                  <a:solidFill>
                    <a:srgbClr val="ECF0F1"/>
                  </a:solidFill>
                  <a:latin typeface="TT Fors"/>
                  <a:ea typeface="TT Fors"/>
                  <a:cs typeface="TT Fors"/>
                  <a:sym typeface="TT Fors"/>
                </a:rPr>
                <a:t> sẽ áp dụng </a:t>
              </a:r>
              <a:r>
                <a:rPr lang="en-US" b="true" sz="2100">
                  <a:solidFill>
                    <a:srgbClr val="ECF0F1"/>
                  </a:solidFill>
                  <a:latin typeface="TT Fors Bold"/>
                  <a:ea typeface="TT Fors Bold"/>
                  <a:cs typeface="TT Fors Bold"/>
                  <a:sym typeface="TT Fors Bold"/>
                </a:rPr>
                <a:t>các phương pháp</a:t>
              </a:r>
              <a:r>
                <a:rPr lang="en-US" sz="2100">
                  <a:solidFill>
                    <a:srgbClr val="ECF0F1"/>
                  </a:solidFill>
                  <a:latin typeface="TT Fors"/>
                  <a:ea typeface="TT Fors"/>
                  <a:cs typeface="TT Fors"/>
                  <a:sym typeface="TT Fors"/>
                </a:rPr>
                <a:t> xử lý chuỗi, làm quen với regex trong Java, giúp cải thiện khả năng thao tác và chuẩn hóa dữ liệu đầu vào cho ứng dụng.</a:t>
              </a:r>
            </a:p>
          </p:txBody>
        </p:sp>
        <p:sp>
          <p:nvSpPr>
            <p:cNvPr name="TextBox 7" id="7"/>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Kỹ thuật Chuỗi</a:t>
              </a:r>
            </a:p>
          </p:txBody>
        </p:sp>
      </p:grpSp>
      <p:grpSp>
        <p:nvGrpSpPr>
          <p:cNvPr name="Group 8" id="8"/>
          <p:cNvGrpSpPr/>
          <p:nvPr/>
        </p:nvGrpSpPr>
        <p:grpSpPr>
          <a:xfrm rot="0">
            <a:off x="12172950" y="5143500"/>
            <a:ext cx="4010025" cy="3070860"/>
            <a:chOff x="0" y="0"/>
            <a:chExt cx="5346700" cy="4094480"/>
          </a:xfrm>
        </p:grpSpPr>
        <p:sp>
          <p:nvSpPr>
            <p:cNvPr name="TextBox 9" id="9"/>
            <p:cNvSpPr txBox="true"/>
            <p:nvPr/>
          </p:nvSpPr>
          <p:spPr>
            <a:xfrm rot="0">
              <a:off x="0" y="1155700"/>
              <a:ext cx="53467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Sinh viên xây dựng </a:t>
              </a:r>
              <a:r>
                <a:rPr lang="en-US" b="true" sz="2100">
                  <a:solidFill>
                    <a:srgbClr val="ECF0F1"/>
                  </a:solidFill>
                  <a:latin typeface="TT Fors Bold"/>
                  <a:ea typeface="TT Fors Bold"/>
                  <a:cs typeface="TT Fors Bold"/>
                  <a:sym typeface="TT Fors Bold"/>
                </a:rPr>
                <a:t>ứng dụng Java Console</a:t>
              </a:r>
              <a:r>
                <a:rPr lang="en-US" sz="2100">
                  <a:solidFill>
                    <a:srgbClr val="ECF0F1"/>
                  </a:solidFill>
                  <a:latin typeface="TT Fors"/>
                  <a:ea typeface="TT Fors"/>
                  <a:cs typeface="TT Fors"/>
                  <a:sym typeface="TT Fors"/>
                </a:rPr>
                <a:t> với menu tương tác, một kỹ năng thiết yếu cho việc phát triển phần mềm và ứng dụng thực tế trong lập trình Java.</a:t>
              </a:r>
            </a:p>
          </p:txBody>
        </p:sp>
        <p:sp>
          <p:nvSpPr>
            <p:cNvPr name="TextBox 10" id="10"/>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Ứng dụng Console</a:t>
              </a:r>
            </a:p>
          </p:txBody>
        </p:sp>
      </p:grpSp>
      <p:grpSp>
        <p:nvGrpSpPr>
          <p:cNvPr name="Group 11" id="11"/>
          <p:cNvGrpSpPr/>
          <p:nvPr/>
        </p:nvGrpSpPr>
        <p:grpSpPr>
          <a:xfrm rot="0">
            <a:off x="666750" y="666750"/>
            <a:ext cx="11201400" cy="2162175"/>
            <a:chOff x="0" y="0"/>
            <a:chExt cx="14935200" cy="2882900"/>
          </a:xfrm>
        </p:grpSpPr>
        <p:sp>
          <p:nvSpPr>
            <p:cNvPr name="TextBox 12" id="12"/>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Mục tiêu học tập</a:t>
              </a:r>
            </a:p>
          </p:txBody>
        </p:sp>
        <p:sp>
          <p:nvSpPr>
            <p:cNvPr name="TextBox 13" id="13"/>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pPr>
              <a:r>
                <a:rPr lang="en-US" sz="3199" spc="-95" strike="noStrike" u="none">
                  <a:solidFill>
                    <a:srgbClr val="3498DB"/>
                  </a:solidFill>
                  <a:latin typeface="TT Fors"/>
                  <a:ea typeface="TT Fors"/>
                  <a:cs typeface="TT Fors"/>
                  <a:sym typeface="TT Fors"/>
                </a:rPr>
                <a:t>Kỹ năng lập trình Java</a:t>
              </a:r>
            </a:p>
          </p:txBody>
        </p:sp>
      </p:grpSp>
      <p:grpSp>
        <p:nvGrpSpPr>
          <p:cNvPr name="Group 14" id="14"/>
          <p:cNvGrpSpPr/>
          <p:nvPr/>
        </p:nvGrpSpPr>
        <p:grpSpPr>
          <a:xfrm rot="0">
            <a:off x="15430959" y="752281"/>
            <a:ext cx="2190291" cy="809819"/>
            <a:chOff x="0" y="0"/>
            <a:chExt cx="2920388" cy="1079758"/>
          </a:xfrm>
        </p:grpSpPr>
        <p:sp>
          <p:nvSpPr>
            <p:cNvPr name="Freeform 15" id="15"/>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886575" cy="3070860"/>
            <a:chOff x="0" y="0"/>
            <a:chExt cx="9182100" cy="4094480"/>
          </a:xfrm>
        </p:grpSpPr>
        <p:sp>
          <p:nvSpPr>
            <p:cNvPr name="TextBox 3" id="3"/>
            <p:cNvSpPr txBox="true"/>
            <p:nvPr/>
          </p:nvSpPr>
          <p:spPr>
            <a:xfrm rot="0">
              <a:off x="0" y="1155700"/>
              <a:ext cx="91821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Đối tượng chính của chương trình là </a:t>
              </a:r>
              <a:r>
                <a:rPr lang="en-US" b="true" sz="2100">
                  <a:solidFill>
                    <a:srgbClr val="ECF0F1"/>
                  </a:solidFill>
                  <a:latin typeface="TT Fors Bold"/>
                  <a:ea typeface="TT Fors Bold"/>
                  <a:cs typeface="TT Fors Bold"/>
                  <a:sym typeface="TT Fors Bold"/>
                </a:rPr>
                <a:t>sinh viên đã học</a:t>
              </a:r>
              <a:r>
                <a:rPr lang="en-US" sz="2100">
                  <a:solidFill>
                    <a:srgbClr val="ECF0F1"/>
                  </a:solidFill>
                  <a:latin typeface="TT Fors"/>
                  <a:ea typeface="TT Fors"/>
                  <a:cs typeface="TT Fors"/>
                  <a:sym typeface="TT Fors"/>
                </a:rPr>
                <a:t> về kiểu dữ liệu và cấu trúc điều khiển trong Java. Những người này sẽ có cơ sở vững chắc để hiểu và áp dụng các thuật toán cơ bản thông qua ứng dụng console. Chương trình thiết kế nhằm giúp </a:t>
              </a:r>
              <a:r>
                <a:rPr lang="en-US" b="true" sz="2100">
                  <a:solidFill>
                    <a:srgbClr val="ECF0F1"/>
                  </a:solidFill>
                  <a:latin typeface="TT Fors Bold"/>
                  <a:ea typeface="TT Fors Bold"/>
                  <a:cs typeface="TT Fors Bold"/>
                  <a:sym typeface="TT Fors Bold"/>
                </a:rPr>
                <a:t>các bạn</a:t>
              </a:r>
              <a:r>
                <a:rPr lang="en-US" sz="2100">
                  <a:solidFill>
                    <a:srgbClr val="ECF0F1"/>
                  </a:solidFill>
                  <a:latin typeface="TT Fors"/>
                  <a:ea typeface="TT Fors"/>
                  <a:cs typeface="TT Fors"/>
                  <a:sym typeface="TT Fors"/>
                </a:rPr>
                <a:t> củng cố kiến thức và nâng cao kỹ năng lập trình.</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Sinh viên học Java</a:t>
              </a:r>
            </a:p>
          </p:txBody>
        </p:sp>
      </p:grpSp>
      <p:grpSp>
        <p:nvGrpSpPr>
          <p:cNvPr name="Group 5" id="5"/>
          <p:cNvGrpSpPr/>
          <p:nvPr/>
        </p:nvGrpSpPr>
        <p:grpSpPr>
          <a:xfrm rot="0">
            <a:off x="9296400" y="5143500"/>
            <a:ext cx="6886575" cy="3070860"/>
            <a:chOff x="0" y="0"/>
            <a:chExt cx="9182100" cy="4094480"/>
          </a:xfrm>
        </p:grpSpPr>
        <p:sp>
          <p:nvSpPr>
            <p:cNvPr name="TextBox 6" id="6"/>
            <p:cNvSpPr txBox="true"/>
            <p:nvPr/>
          </p:nvSpPr>
          <p:spPr>
            <a:xfrm rot="0">
              <a:off x="0" y="1155700"/>
              <a:ext cx="91821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Chương trình cũng phù hợp với sinh viên mới tìm hiểu về thuật toán, giúp họ kết nối kiến thức Java cơ bản với </a:t>
              </a:r>
              <a:r>
                <a:rPr lang="en-US" b="true" sz="2100">
                  <a:solidFill>
                    <a:srgbClr val="ECF0F1"/>
                  </a:solidFill>
                  <a:latin typeface="TT Fors Bold"/>
                  <a:ea typeface="TT Fors Bold"/>
                  <a:cs typeface="TT Fors Bold"/>
                  <a:sym typeface="TT Fors Bold"/>
                </a:rPr>
                <a:t>các bài toán thực tế</a:t>
              </a:r>
              <a:r>
                <a:rPr lang="en-US" sz="2100">
                  <a:solidFill>
                    <a:srgbClr val="ECF0F1"/>
                  </a:solidFill>
                  <a:latin typeface="TT Fors"/>
                  <a:ea typeface="TT Fors"/>
                  <a:cs typeface="TT Fors"/>
                  <a:sym typeface="TT Fors"/>
                </a:rPr>
                <a:t>. Việc luyện tập qua những bài toán thực hành sẽ trang bị cho sinh viên </a:t>
              </a:r>
              <a:r>
                <a:rPr lang="en-US" b="true" sz="2100">
                  <a:solidFill>
                    <a:srgbClr val="ECF0F1"/>
                  </a:solidFill>
                  <a:latin typeface="TT Fors Bold"/>
                  <a:ea typeface="TT Fors Bold"/>
                  <a:cs typeface="TT Fors Bold"/>
                  <a:sym typeface="TT Fors Bold"/>
                </a:rPr>
                <a:t>kỹ năng giải quyết vấn đề</a:t>
              </a:r>
              <a:r>
                <a:rPr lang="en-US" sz="2100">
                  <a:solidFill>
                    <a:srgbClr val="ECF0F1"/>
                  </a:solidFill>
                  <a:latin typeface="TT Fors"/>
                  <a:ea typeface="TT Fors"/>
                  <a:cs typeface="TT Fors"/>
                  <a:sym typeface="TT Fors"/>
                </a:rPr>
                <a:t>, sẵn sàng cho các cuộc phỏng vấn và môi trường làm việc thực tế.</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Phù hợp với thuật toán</a:t>
              </a:r>
            </a:p>
          </p:txBody>
        </p:sp>
      </p:grpSp>
      <p:grpSp>
        <p:nvGrpSpPr>
          <p:cNvPr name="Group 8" id="8"/>
          <p:cNvGrpSpPr/>
          <p:nvPr/>
        </p:nvGrpSpPr>
        <p:grpSpPr>
          <a:xfrm rot="0">
            <a:off x="666750" y="666750"/>
            <a:ext cx="11201400" cy="2162175"/>
            <a:chOff x="0" y="0"/>
            <a:chExt cx="14935200" cy="2882900"/>
          </a:xfrm>
        </p:grpSpPr>
        <p:sp>
          <p:nvSpPr>
            <p:cNvPr name="TextBox 9" id="9"/>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Đối tượng sử dụng</a:t>
              </a:r>
            </a:p>
          </p:txBody>
        </p:sp>
        <p:sp>
          <p:nvSpPr>
            <p:cNvPr name="TextBox 10" id="10"/>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Phù hợp cho sinh viên</a:t>
              </a:r>
            </a:p>
          </p:txBody>
        </p:sp>
      </p:grpSp>
      <p:grpSp>
        <p:nvGrpSpPr>
          <p:cNvPr name="Group 11" id="11"/>
          <p:cNvGrpSpPr/>
          <p:nvPr/>
        </p:nvGrpSpPr>
        <p:grpSpPr>
          <a:xfrm rot="0">
            <a:off x="15430959" y="752281"/>
            <a:ext cx="2190291" cy="809819"/>
            <a:chOff x="0" y="0"/>
            <a:chExt cx="2920388" cy="1079758"/>
          </a:xfrm>
        </p:grpSpPr>
        <p:sp>
          <p:nvSpPr>
            <p:cNvPr name="Freeform 12" id="12"/>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1201400" cy="2232026"/>
          </a:xfrm>
          <a:prstGeom prst="rect">
            <a:avLst/>
          </a:prstGeom>
        </p:spPr>
        <p:txBody>
          <a:bodyPr anchor="t" rtlCol="false" tIns="0" lIns="0" bIns="0" rIns="0">
            <a:spAutoFit/>
          </a:bodyPr>
          <a:lstStyle/>
          <a:p>
            <a:pPr algn="l" marL="0" indent="0" lvl="0">
              <a:lnSpc>
                <a:spcPts val="8000"/>
              </a:lnSpc>
            </a:pPr>
            <a:r>
              <a:rPr lang="en-US" sz="8000" spc="-240">
                <a:solidFill>
                  <a:srgbClr val="ECF0F1"/>
                </a:solidFill>
                <a:latin typeface="ITC Avant Garde Gothic"/>
                <a:ea typeface="ITC Avant Garde Gothic"/>
                <a:cs typeface="ITC Avant Garde Gothic"/>
                <a:sym typeface="ITC Avant Garde Gothic"/>
              </a:rPr>
              <a:t>Mô tả hệ thống và luồng</a:t>
            </a:r>
          </a:p>
        </p:txBody>
      </p:sp>
      <p:grpSp>
        <p:nvGrpSpPr>
          <p:cNvPr name="Group 3" id="3"/>
          <p:cNvGrpSpPr/>
          <p:nvPr/>
        </p:nvGrpSpPr>
        <p:grpSpPr>
          <a:xfrm rot="0">
            <a:off x="14744700" y="7829550"/>
            <a:ext cx="4846643" cy="1791955"/>
            <a:chOff x="0" y="0"/>
            <a:chExt cx="6462190" cy="2389273"/>
          </a:xfrm>
        </p:grpSpPr>
        <p:sp>
          <p:nvSpPr>
            <p:cNvPr name="Freeform 4" id="4"/>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15430959" y="752281"/>
            <a:ext cx="2190291" cy="809819"/>
            <a:chOff x="0" y="0"/>
            <a:chExt cx="2920388" cy="1079758"/>
          </a:xfrm>
        </p:grpSpPr>
        <p:sp>
          <p:nvSpPr>
            <p:cNvPr name="Freeform 3" id="3"/>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819150" y="1910506"/>
            <a:ext cx="6199961" cy="6520893"/>
          </a:xfrm>
          <a:custGeom>
            <a:avLst/>
            <a:gdLst/>
            <a:ahLst/>
            <a:cxnLst/>
            <a:rect r="r" b="b" t="t" l="l"/>
            <a:pathLst>
              <a:path h="6520893" w="6199961">
                <a:moveTo>
                  <a:pt x="0" y="0"/>
                </a:moveTo>
                <a:lnTo>
                  <a:pt x="6199961" y="0"/>
                </a:lnTo>
                <a:lnTo>
                  <a:pt x="6199961" y="6520892"/>
                </a:lnTo>
                <a:lnTo>
                  <a:pt x="0" y="6520892"/>
                </a:lnTo>
                <a:lnTo>
                  <a:pt x="0" y="0"/>
                </a:lnTo>
                <a:close/>
              </a:path>
            </a:pathLst>
          </a:custGeom>
          <a:blipFill>
            <a:blip r:embed="rId4"/>
            <a:stretch>
              <a:fillRect l="0" t="0" r="0" b="-1386"/>
            </a:stretch>
          </a:blipFill>
        </p:spPr>
      </p:sp>
      <p:grpSp>
        <p:nvGrpSpPr>
          <p:cNvPr name="Group 7" id="7"/>
          <p:cNvGrpSpPr/>
          <p:nvPr/>
        </p:nvGrpSpPr>
        <p:grpSpPr>
          <a:xfrm rot="0">
            <a:off x="7367173" y="1562100"/>
            <a:ext cx="4010025" cy="2699385"/>
            <a:chOff x="0" y="0"/>
            <a:chExt cx="5346700" cy="3599180"/>
          </a:xfrm>
        </p:grpSpPr>
        <p:sp>
          <p:nvSpPr>
            <p:cNvPr name="TextBox 8" id="8"/>
            <p:cNvSpPr txBox="true"/>
            <p:nvPr/>
          </p:nvSpPr>
          <p:spPr>
            <a:xfrm rot="0">
              <a:off x="0" y="1155700"/>
              <a:ext cx="53467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Người dùng có thể </a:t>
              </a:r>
              <a:r>
                <a:rPr lang="en-US" b="true" sz="2100">
                  <a:solidFill>
                    <a:srgbClr val="ECF0F1"/>
                  </a:solidFill>
                  <a:latin typeface="TT Fors Bold"/>
                  <a:ea typeface="TT Fors Bold"/>
                  <a:cs typeface="TT Fors Bold"/>
                  <a:sym typeface="TT Fors Bold"/>
                </a:rPr>
                <a:t>chọn bài toán</a:t>
              </a:r>
              <a:r>
                <a:rPr lang="en-US" sz="2100">
                  <a:solidFill>
                    <a:srgbClr val="ECF0F1"/>
                  </a:solidFill>
                  <a:latin typeface="TT Fors"/>
                  <a:ea typeface="TT Fors"/>
                  <a:cs typeface="TT Fors"/>
                  <a:sym typeface="TT Fors"/>
                </a:rPr>
                <a:t> cụ thể từ menu chính của ứng dụng console, giúp tối ưu hóa quá trình học tập và thực hành thuật toán cơ bản.</a:t>
              </a:r>
            </a:p>
          </p:txBody>
        </p:sp>
        <p:sp>
          <p:nvSpPr>
            <p:cNvPr name="TextBox 9" id="9"/>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Chọn bài toán</a:t>
              </a:r>
            </a:p>
          </p:txBody>
        </p:sp>
      </p:grpSp>
      <p:grpSp>
        <p:nvGrpSpPr>
          <p:cNvPr name="Group 10" id="10"/>
          <p:cNvGrpSpPr/>
          <p:nvPr/>
        </p:nvGrpSpPr>
        <p:grpSpPr>
          <a:xfrm rot="0">
            <a:off x="12808682" y="2289678"/>
            <a:ext cx="4010025" cy="3070860"/>
            <a:chOff x="0" y="0"/>
            <a:chExt cx="5346700" cy="4094480"/>
          </a:xfrm>
        </p:grpSpPr>
        <p:sp>
          <p:nvSpPr>
            <p:cNvPr name="TextBox 11" id="11"/>
            <p:cNvSpPr txBox="true"/>
            <p:nvPr/>
          </p:nvSpPr>
          <p:spPr>
            <a:xfrm rot="0">
              <a:off x="0" y="1155700"/>
              <a:ext cx="53467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Sau khi chọn bài toán, người dùng sẽ được </a:t>
              </a:r>
              <a:r>
                <a:rPr lang="en-US" b="true" sz="2100">
                  <a:solidFill>
                    <a:srgbClr val="ECF0F1"/>
                  </a:solidFill>
                  <a:latin typeface="TT Fors Bold"/>
                  <a:ea typeface="TT Fors Bold"/>
                  <a:cs typeface="TT Fors Bold"/>
                  <a:sym typeface="TT Fors Bold"/>
                </a:rPr>
                <a:t>nhập dữ liệu</a:t>
              </a:r>
              <a:r>
                <a:rPr lang="en-US" sz="2100">
                  <a:solidFill>
                    <a:srgbClr val="ECF0F1"/>
                  </a:solidFill>
                  <a:latin typeface="TT Fors"/>
                  <a:ea typeface="TT Fors"/>
                  <a:cs typeface="TT Fors"/>
                  <a:sym typeface="TT Fors"/>
                </a:rPr>
                <a:t> cần thiết, đảm bảo rằng ứng dụng có thông tin chính xác để xử lý và đưa ra kết quả phù hợp.</a:t>
              </a:r>
            </a:p>
          </p:txBody>
        </p:sp>
        <p:sp>
          <p:nvSpPr>
            <p:cNvPr name="TextBox 12" id="12"/>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Nhập dữ liệu</a:t>
              </a:r>
            </a:p>
          </p:txBody>
        </p:sp>
      </p:grpSp>
      <p:grpSp>
        <p:nvGrpSpPr>
          <p:cNvPr name="Group 13" id="13"/>
          <p:cNvGrpSpPr/>
          <p:nvPr/>
        </p:nvGrpSpPr>
        <p:grpSpPr>
          <a:xfrm rot="0">
            <a:off x="7367173" y="5360538"/>
            <a:ext cx="4010025" cy="3070860"/>
            <a:chOff x="0" y="0"/>
            <a:chExt cx="5346700" cy="4094480"/>
          </a:xfrm>
        </p:grpSpPr>
        <p:sp>
          <p:nvSpPr>
            <p:cNvPr name="TextBox 14" id="14"/>
            <p:cNvSpPr txBox="true"/>
            <p:nvPr/>
          </p:nvSpPr>
          <p:spPr>
            <a:xfrm rot="0">
              <a:off x="0" y="1155700"/>
              <a:ext cx="53467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Sau mỗi lần thực hiện bài toán, chương trình sẽ tự động </a:t>
              </a:r>
              <a:r>
                <a:rPr lang="en-US" b="true" sz="2100">
                  <a:solidFill>
                    <a:srgbClr val="ECF0F1"/>
                  </a:solidFill>
                  <a:latin typeface="TT Fors Bold"/>
                  <a:ea typeface="TT Fors Bold"/>
                  <a:cs typeface="TT Fors Bold"/>
                  <a:sym typeface="TT Fors Bold"/>
                </a:rPr>
                <a:t>quay lại menu chính</a:t>
              </a:r>
              <a:r>
                <a:rPr lang="en-US" sz="2100">
                  <a:solidFill>
                    <a:srgbClr val="ECF0F1"/>
                  </a:solidFill>
                  <a:latin typeface="TT Fors"/>
                  <a:ea typeface="TT Fors"/>
                  <a:cs typeface="TT Fors"/>
                  <a:sym typeface="TT Fors"/>
                </a:rPr>
                <a:t>, cho phép người dùng dễ dàng thử nghiệm với các bài toán khác mà không gặp phiền phức.</a:t>
              </a:r>
            </a:p>
          </p:txBody>
        </p:sp>
        <p:sp>
          <p:nvSpPr>
            <p:cNvPr name="TextBox 15" id="15"/>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Quay lại menu</a:t>
              </a:r>
            </a:p>
          </p:txBody>
        </p:sp>
      </p:grpSp>
      <p:grpSp>
        <p:nvGrpSpPr>
          <p:cNvPr name="Group 16" id="16"/>
          <p:cNvGrpSpPr/>
          <p:nvPr/>
        </p:nvGrpSpPr>
        <p:grpSpPr>
          <a:xfrm rot="0">
            <a:off x="819150" y="287705"/>
            <a:ext cx="11201400" cy="2162175"/>
            <a:chOff x="0" y="0"/>
            <a:chExt cx="14935200" cy="2882900"/>
          </a:xfrm>
        </p:grpSpPr>
        <p:sp>
          <p:nvSpPr>
            <p:cNvPr name="TextBox 17" id="17"/>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Chương trình Console</a:t>
              </a:r>
            </a:p>
          </p:txBody>
        </p:sp>
        <p:sp>
          <p:nvSpPr>
            <p:cNvPr name="TextBox 18" id="18"/>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4010025" cy="2699385"/>
            <a:chOff x="0" y="0"/>
            <a:chExt cx="5346700" cy="3599180"/>
          </a:xfrm>
        </p:grpSpPr>
        <p:sp>
          <p:nvSpPr>
            <p:cNvPr name="TextBox 3" id="3"/>
            <p:cNvSpPr txBox="true"/>
            <p:nvPr/>
          </p:nvSpPr>
          <p:spPr>
            <a:xfrm rot="0">
              <a:off x="0" y="1155700"/>
              <a:ext cx="53467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Chương trình bắt đầu bằng việc hiển thị menu cho người dùng, cho phép họ lựa chọn bài toán mà họ muốn giải quyết từ danh sách các tùy chọn có sẵn.</a:t>
              </a:r>
            </a:p>
          </p:txBody>
        </p:sp>
        <p:sp>
          <p:nvSpPr>
            <p:cNvPr name="TextBox 4" id="4"/>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Hiển thị menu</a:t>
              </a:r>
            </a:p>
          </p:txBody>
        </p:sp>
      </p:grpSp>
      <p:grpSp>
        <p:nvGrpSpPr>
          <p:cNvPr name="Group 5" id="5"/>
          <p:cNvGrpSpPr/>
          <p:nvPr/>
        </p:nvGrpSpPr>
        <p:grpSpPr>
          <a:xfrm rot="0">
            <a:off x="6419850" y="5143500"/>
            <a:ext cx="4010025" cy="2699385"/>
            <a:chOff x="0" y="0"/>
            <a:chExt cx="5346700" cy="3599180"/>
          </a:xfrm>
        </p:grpSpPr>
        <p:sp>
          <p:nvSpPr>
            <p:cNvPr name="TextBox 6" id="6"/>
            <p:cNvSpPr txBox="true"/>
            <p:nvPr/>
          </p:nvSpPr>
          <p:spPr>
            <a:xfrm rot="0">
              <a:off x="0" y="1155700"/>
              <a:ext cx="53467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Sau khi người dùng chọn một bài toán, họ cần nhập dữ liệu cần thiết, chương trình sẽ nhận dữ liệu đầu vào và tiếp tục xử lý theo lựa chọn đã được đưa ra.</a:t>
              </a:r>
            </a:p>
          </p:txBody>
        </p:sp>
        <p:sp>
          <p:nvSpPr>
            <p:cNvPr name="TextBox 7" id="7"/>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Nhập lựa chọn</a:t>
              </a:r>
            </a:p>
          </p:txBody>
        </p:sp>
      </p:grpSp>
      <p:grpSp>
        <p:nvGrpSpPr>
          <p:cNvPr name="Group 8" id="8"/>
          <p:cNvGrpSpPr/>
          <p:nvPr/>
        </p:nvGrpSpPr>
        <p:grpSpPr>
          <a:xfrm rot="0">
            <a:off x="12172950" y="5143500"/>
            <a:ext cx="4010025" cy="3070860"/>
            <a:chOff x="0" y="0"/>
            <a:chExt cx="5346700" cy="4094480"/>
          </a:xfrm>
        </p:grpSpPr>
        <p:sp>
          <p:nvSpPr>
            <p:cNvPr name="TextBox 9" id="9"/>
            <p:cNvSpPr txBox="true"/>
            <p:nvPr/>
          </p:nvSpPr>
          <p:spPr>
            <a:xfrm rot="0">
              <a:off x="0" y="1155700"/>
              <a:ext cx="53467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Kết quả của bài toán sẽ được in ra màn hình sau khi hoàn thành việc xử lý, người dùng có thể lựa chọn quay lại menu chính hoặc kết thúc chương trình nếu muốn.</a:t>
              </a:r>
            </a:p>
          </p:txBody>
        </p:sp>
        <p:sp>
          <p:nvSpPr>
            <p:cNvPr name="TextBox 10" id="10"/>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Xử lý kết quả</a:t>
              </a:r>
            </a:p>
          </p:txBody>
        </p:sp>
      </p:grpSp>
      <p:grpSp>
        <p:nvGrpSpPr>
          <p:cNvPr name="Group 11" id="11"/>
          <p:cNvGrpSpPr/>
          <p:nvPr/>
        </p:nvGrpSpPr>
        <p:grpSpPr>
          <a:xfrm rot="0">
            <a:off x="666750" y="666750"/>
            <a:ext cx="11201400" cy="2162175"/>
            <a:chOff x="0" y="0"/>
            <a:chExt cx="14935200" cy="2882900"/>
          </a:xfrm>
        </p:grpSpPr>
        <p:sp>
          <p:nvSpPr>
            <p:cNvPr name="TextBox 12" id="12"/>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Luồng hoạt động</a:t>
              </a:r>
            </a:p>
          </p:txBody>
        </p:sp>
        <p:sp>
          <p:nvSpPr>
            <p:cNvPr name="TextBox 13" id="13"/>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pPr>
              <a:r>
                <a:rPr lang="en-US" sz="3199" spc="-95" strike="noStrike" u="none">
                  <a:solidFill>
                    <a:srgbClr val="3498DB"/>
                  </a:solidFill>
                  <a:latin typeface="TT Fors"/>
                  <a:ea typeface="TT Fors"/>
                  <a:cs typeface="TT Fors"/>
                  <a:sym typeface="TT Fors"/>
                </a:rPr>
                <a:t>Quy trình xử lý</a:t>
              </a:r>
            </a:p>
          </p:txBody>
        </p:sp>
      </p:grpSp>
      <p:grpSp>
        <p:nvGrpSpPr>
          <p:cNvPr name="Group 14" id="14"/>
          <p:cNvGrpSpPr/>
          <p:nvPr/>
        </p:nvGrpSpPr>
        <p:grpSpPr>
          <a:xfrm rot="0">
            <a:off x="15430959" y="752281"/>
            <a:ext cx="2190291" cy="809819"/>
            <a:chOff x="0" y="0"/>
            <a:chExt cx="2920388" cy="1079758"/>
          </a:xfrm>
        </p:grpSpPr>
        <p:sp>
          <p:nvSpPr>
            <p:cNvPr name="Freeform 15" id="15"/>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4010025" cy="2699385"/>
            <a:chOff x="0" y="0"/>
            <a:chExt cx="5346700" cy="3599180"/>
          </a:xfrm>
        </p:grpSpPr>
        <p:sp>
          <p:nvSpPr>
            <p:cNvPr name="TextBox 3" id="3"/>
            <p:cNvSpPr txBox="true"/>
            <p:nvPr/>
          </p:nvSpPr>
          <p:spPr>
            <a:xfrm rot="0">
              <a:off x="0" y="1155700"/>
              <a:ext cx="53467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Nhóm 1 tập trung vào </a:t>
              </a:r>
              <a:r>
                <a:rPr lang="en-US" b="true" sz="2100">
                  <a:solidFill>
                    <a:srgbClr val="ECF0F1"/>
                  </a:solidFill>
                  <a:latin typeface="TT Fors Bold"/>
                  <a:ea typeface="TT Fors Bold"/>
                  <a:cs typeface="TT Fors Bold"/>
                  <a:sym typeface="TT Fors Bold"/>
                </a:rPr>
                <a:t>thuật toán mảng</a:t>
              </a:r>
              <a:r>
                <a:rPr lang="en-US" sz="2100">
                  <a:solidFill>
                    <a:srgbClr val="ECF0F1"/>
                  </a:solidFill>
                  <a:latin typeface="TT Fors"/>
                  <a:ea typeface="TT Fors"/>
                  <a:cs typeface="TT Fors"/>
                  <a:sym typeface="TT Fors"/>
                </a:rPr>
                <a:t>, giúp sinh viên rèn luyện cách duyệt mảng và thao tác trực tiếp để giải quyết các bài toán cụ thể trong thực tế.</a:t>
              </a:r>
            </a:p>
          </p:txBody>
        </p:sp>
        <p:sp>
          <p:nvSpPr>
            <p:cNvPr name="TextBox 4" id="4"/>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Nhóm 1</a:t>
              </a:r>
            </a:p>
          </p:txBody>
        </p:sp>
      </p:grpSp>
      <p:grpSp>
        <p:nvGrpSpPr>
          <p:cNvPr name="Group 5" id="5"/>
          <p:cNvGrpSpPr/>
          <p:nvPr/>
        </p:nvGrpSpPr>
        <p:grpSpPr>
          <a:xfrm rot="0">
            <a:off x="6419850" y="5143500"/>
            <a:ext cx="4010025" cy="3070860"/>
            <a:chOff x="0" y="0"/>
            <a:chExt cx="5346700" cy="4094480"/>
          </a:xfrm>
        </p:grpSpPr>
        <p:sp>
          <p:nvSpPr>
            <p:cNvPr name="TextBox 6" id="6"/>
            <p:cNvSpPr txBox="true"/>
            <p:nvPr/>
          </p:nvSpPr>
          <p:spPr>
            <a:xfrm rot="0">
              <a:off x="0" y="1155700"/>
              <a:ext cx="53467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Nhóm 2 giới thiệu về </a:t>
              </a:r>
              <a:r>
                <a:rPr lang="en-US" b="true" sz="2100">
                  <a:solidFill>
                    <a:srgbClr val="ECF0F1"/>
                  </a:solidFill>
                  <a:latin typeface="TT Fors Bold"/>
                  <a:ea typeface="TT Fors Bold"/>
                  <a:cs typeface="TT Fors Bold"/>
                  <a:sym typeface="TT Fors Bold"/>
                </a:rPr>
                <a:t>chuỗi và biểu thức chính quy</a:t>
              </a:r>
              <a:r>
                <a:rPr lang="en-US" sz="2100">
                  <a:solidFill>
                    <a:srgbClr val="ECF0F1"/>
                  </a:solidFill>
                  <a:latin typeface="TT Fors"/>
                  <a:ea typeface="TT Fors"/>
                  <a:cs typeface="TT Fors"/>
                  <a:sym typeface="TT Fors"/>
                </a:rPr>
                <a:t>, cho phép sinh viên làm quen với việc xử lý chuỗi và chuẩn hóa dữ liệu đầu vào hiệu quả hơn trong lập trình Java.</a:t>
              </a:r>
            </a:p>
          </p:txBody>
        </p:sp>
        <p:sp>
          <p:nvSpPr>
            <p:cNvPr name="TextBox 7" id="7"/>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Nhóm 2</a:t>
              </a:r>
            </a:p>
          </p:txBody>
        </p:sp>
      </p:grpSp>
      <p:grpSp>
        <p:nvGrpSpPr>
          <p:cNvPr name="Group 8" id="8"/>
          <p:cNvGrpSpPr/>
          <p:nvPr/>
        </p:nvGrpSpPr>
        <p:grpSpPr>
          <a:xfrm rot="0">
            <a:off x="12172950" y="5143500"/>
            <a:ext cx="4010025" cy="3070860"/>
            <a:chOff x="0" y="0"/>
            <a:chExt cx="5346700" cy="4094480"/>
          </a:xfrm>
        </p:grpSpPr>
        <p:sp>
          <p:nvSpPr>
            <p:cNvPr name="TextBox 9" id="9"/>
            <p:cNvSpPr txBox="true"/>
            <p:nvPr/>
          </p:nvSpPr>
          <p:spPr>
            <a:xfrm rot="0">
              <a:off x="0" y="1155700"/>
              <a:ext cx="53467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Nhóm 3 tập trung vào </a:t>
              </a:r>
              <a:r>
                <a:rPr lang="en-US" b="true" sz="2100">
                  <a:solidFill>
                    <a:srgbClr val="ECF0F1"/>
                  </a:solidFill>
                  <a:latin typeface="TT Fors Bold"/>
                  <a:ea typeface="TT Fors Bold"/>
                  <a:cs typeface="TT Fors Bold"/>
                  <a:sym typeface="TT Fors Bold"/>
                </a:rPr>
                <a:t>số học và vòng lặp</a:t>
              </a:r>
              <a:r>
                <a:rPr lang="en-US" sz="2100">
                  <a:solidFill>
                    <a:srgbClr val="ECF0F1"/>
                  </a:solidFill>
                  <a:latin typeface="TT Fors"/>
                  <a:ea typeface="TT Fors"/>
                  <a:cs typeface="TT Fors"/>
                  <a:sym typeface="TT Fors"/>
                </a:rPr>
                <a:t>, phát triển tư duy kiểm soát vòng lặp và giải quyết các bài toán thú vị như Happy Number qua các kỹ thuật lập trình.</a:t>
              </a:r>
            </a:p>
          </p:txBody>
        </p:sp>
        <p:sp>
          <p:nvSpPr>
            <p:cNvPr name="TextBox 10" id="10"/>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Nhóm 3</a:t>
              </a:r>
            </a:p>
          </p:txBody>
        </p:sp>
      </p:grpSp>
      <p:grpSp>
        <p:nvGrpSpPr>
          <p:cNvPr name="Group 11" id="11"/>
          <p:cNvGrpSpPr/>
          <p:nvPr/>
        </p:nvGrpSpPr>
        <p:grpSpPr>
          <a:xfrm rot="0">
            <a:off x="666750" y="666750"/>
            <a:ext cx="11201400" cy="2162175"/>
            <a:chOff x="0" y="0"/>
            <a:chExt cx="14935200" cy="2882900"/>
          </a:xfrm>
        </p:grpSpPr>
        <p:sp>
          <p:nvSpPr>
            <p:cNvPr name="TextBox 12" id="12"/>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Các nhóm bài toán</a:t>
              </a:r>
            </a:p>
          </p:txBody>
        </p:sp>
        <p:sp>
          <p:nvSpPr>
            <p:cNvPr name="TextBox 13" id="13"/>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pPr>
              <a:r>
                <a:rPr lang="en-US" sz="3199" spc="-95" strike="noStrike" u="none">
                  <a:solidFill>
                    <a:srgbClr val="3498DB"/>
                  </a:solidFill>
                  <a:latin typeface="TT Fors"/>
                  <a:ea typeface="TT Fors"/>
                  <a:cs typeface="TT Fors"/>
                  <a:sym typeface="TT Fors"/>
                </a:rPr>
                <a:t>Kỹ năng cụ thể trong lập trình</a:t>
              </a:r>
            </a:p>
          </p:txBody>
        </p:sp>
      </p:grpSp>
      <p:grpSp>
        <p:nvGrpSpPr>
          <p:cNvPr name="Group 14" id="14"/>
          <p:cNvGrpSpPr/>
          <p:nvPr/>
        </p:nvGrpSpPr>
        <p:grpSpPr>
          <a:xfrm rot="0">
            <a:off x="15430959" y="752281"/>
            <a:ext cx="2190291" cy="809819"/>
            <a:chOff x="0" y="0"/>
            <a:chExt cx="2920388" cy="1079758"/>
          </a:xfrm>
        </p:grpSpPr>
        <p:sp>
          <p:nvSpPr>
            <p:cNvPr name="Freeform 15" id="15"/>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1201400" cy="2232026"/>
          </a:xfrm>
          <a:prstGeom prst="rect">
            <a:avLst/>
          </a:prstGeom>
        </p:spPr>
        <p:txBody>
          <a:bodyPr anchor="t" rtlCol="false" tIns="0" lIns="0" bIns="0" rIns="0">
            <a:spAutoFit/>
          </a:bodyPr>
          <a:lstStyle/>
          <a:p>
            <a:pPr algn="l" marL="0" indent="0" lvl="0">
              <a:lnSpc>
                <a:spcPts val="8000"/>
              </a:lnSpc>
            </a:pPr>
            <a:r>
              <a:rPr lang="en-US" sz="8000" spc="-240">
                <a:solidFill>
                  <a:srgbClr val="ECF0F1"/>
                </a:solidFill>
                <a:latin typeface="ITC Avant Garde Gothic"/>
                <a:ea typeface="ITC Avant Garde Gothic"/>
                <a:cs typeface="ITC Avant Garde Gothic"/>
                <a:sym typeface="ITC Avant Garde Gothic"/>
              </a:rPr>
              <a:t>Nhóm 1 – Thuật toán Mảng</a:t>
            </a:r>
          </a:p>
        </p:txBody>
      </p:sp>
      <p:grpSp>
        <p:nvGrpSpPr>
          <p:cNvPr name="Group 3" id="3"/>
          <p:cNvGrpSpPr/>
          <p:nvPr/>
        </p:nvGrpSpPr>
        <p:grpSpPr>
          <a:xfrm rot="0">
            <a:off x="14744700" y="7829550"/>
            <a:ext cx="4846643" cy="1791955"/>
            <a:chOff x="0" y="0"/>
            <a:chExt cx="6462190" cy="2389273"/>
          </a:xfrm>
        </p:grpSpPr>
        <p:sp>
          <p:nvSpPr>
            <p:cNvPr name="Freeform 4" id="4"/>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886575" cy="3070860"/>
            <a:chOff x="0" y="0"/>
            <a:chExt cx="9182100" cy="4094480"/>
          </a:xfrm>
        </p:grpSpPr>
        <p:sp>
          <p:nvSpPr>
            <p:cNvPr name="TextBox 3" id="3"/>
            <p:cNvSpPr txBox="true"/>
            <p:nvPr/>
          </p:nvSpPr>
          <p:spPr>
            <a:xfrm rot="0">
              <a:off x="0" y="1155700"/>
              <a:ext cx="91821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Mục tiêu chính của nhóm là </a:t>
              </a:r>
              <a:r>
                <a:rPr lang="en-US" b="true" sz="2100">
                  <a:solidFill>
                    <a:srgbClr val="ECF0F1"/>
                  </a:solidFill>
                  <a:latin typeface="TT Fors Bold"/>
                  <a:ea typeface="TT Fors Bold"/>
                  <a:cs typeface="TT Fors Bold"/>
                  <a:sym typeface="TT Fors Bold"/>
                </a:rPr>
                <a:t>hiểu cách duyệt mảng</a:t>
              </a:r>
              <a:r>
                <a:rPr lang="en-US" sz="2100">
                  <a:solidFill>
                    <a:srgbClr val="ECF0F1"/>
                  </a:solidFill>
                  <a:latin typeface="TT Fors"/>
                  <a:ea typeface="TT Fors"/>
                  <a:cs typeface="TT Fors"/>
                  <a:sym typeface="TT Fors"/>
                </a:rPr>
                <a:t> và thao tác trực tiếp trên các phần tử của mảng. Điều này giúp sinh viên rèn luyện tư duy logic và khả năng giải quyết vấn đề trong lập trình. Thông qua việc thực hành, sinh viên sẽ nắm vững các kỹ thuật cần thiết để làm việc với mảng một cách hiệu quả hơn.</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Duyệt mảng</a:t>
              </a:r>
            </a:p>
          </p:txBody>
        </p:sp>
      </p:grpSp>
      <p:grpSp>
        <p:nvGrpSpPr>
          <p:cNvPr name="Group 5" id="5"/>
          <p:cNvGrpSpPr/>
          <p:nvPr/>
        </p:nvGrpSpPr>
        <p:grpSpPr>
          <a:xfrm rot="0">
            <a:off x="9296400" y="5143500"/>
            <a:ext cx="6886575" cy="3070860"/>
            <a:chOff x="0" y="0"/>
            <a:chExt cx="9182100" cy="4094480"/>
          </a:xfrm>
        </p:grpSpPr>
        <p:sp>
          <p:nvSpPr>
            <p:cNvPr name="TextBox 6" id="6"/>
            <p:cNvSpPr txBox="true"/>
            <p:nvPr/>
          </p:nvSpPr>
          <p:spPr>
            <a:xfrm rot="0">
              <a:off x="0" y="1155700"/>
              <a:ext cx="91821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Nhóm sẽ thực hành hai bài toán điển hình: </a:t>
              </a:r>
              <a:r>
                <a:rPr lang="en-US" b="true" sz="2100">
                  <a:solidFill>
                    <a:srgbClr val="ECF0F1"/>
                  </a:solidFill>
                  <a:latin typeface="TT Fors Bold"/>
                  <a:ea typeface="TT Fors Bold"/>
                  <a:cs typeface="TT Fors Bold"/>
                  <a:sym typeface="TT Fors Bold"/>
                </a:rPr>
                <a:t>Two Sum</a:t>
              </a:r>
              <a:r>
                <a:rPr lang="en-US" sz="2100">
                  <a:solidFill>
                    <a:srgbClr val="ECF0F1"/>
                  </a:solidFill>
                  <a:latin typeface="TT Fors"/>
                  <a:ea typeface="TT Fors"/>
                  <a:cs typeface="TT Fors"/>
                  <a:sym typeface="TT Fors"/>
                </a:rPr>
                <a:t> và </a:t>
              </a:r>
              <a:r>
                <a:rPr lang="en-US" b="true" sz="2100">
                  <a:solidFill>
                    <a:srgbClr val="ECF0F1"/>
                  </a:solidFill>
                  <a:latin typeface="TT Fors Bold"/>
                  <a:ea typeface="TT Fors Bold"/>
                  <a:cs typeface="TT Fors Bold"/>
                  <a:sym typeface="TT Fors Bold"/>
                </a:rPr>
                <a:t>Move Zeroes</a:t>
              </a:r>
              <a:r>
                <a:rPr lang="en-US" sz="2100">
                  <a:solidFill>
                    <a:srgbClr val="ECF0F1"/>
                  </a:solidFill>
                  <a:latin typeface="TT Fors"/>
                  <a:ea typeface="TT Fors"/>
                  <a:cs typeface="TT Fors"/>
                  <a:sym typeface="TT Fors"/>
                </a:rPr>
                <a:t>. Hai bài toán này không chỉ giúp sinh viên áp dụng lý thuyết đã học mà còn phát triển khả năng xử lý và tối ưu hóa thuật toán. Việc giải quyết các bài toán thực tế sẽ tạo nền tảng vững chắc cho các kỹ năng lập trình nâng cao sau này.</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Bài toán thực hành</a:t>
              </a:r>
            </a:p>
          </p:txBody>
        </p:sp>
      </p:grpSp>
      <p:grpSp>
        <p:nvGrpSpPr>
          <p:cNvPr name="Group 8" id="8"/>
          <p:cNvGrpSpPr/>
          <p:nvPr/>
        </p:nvGrpSpPr>
        <p:grpSpPr>
          <a:xfrm rot="0">
            <a:off x="666750" y="666750"/>
            <a:ext cx="11201400" cy="2162175"/>
            <a:chOff x="0" y="0"/>
            <a:chExt cx="14935200" cy="2882900"/>
          </a:xfrm>
        </p:grpSpPr>
        <p:sp>
          <p:nvSpPr>
            <p:cNvPr name="TextBox 9" id="9"/>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Mục tiêu nhóm</a:t>
              </a:r>
            </a:p>
          </p:txBody>
        </p:sp>
        <p:sp>
          <p:nvSpPr>
            <p:cNvPr name="TextBox 10" id="10"/>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Thực hành thuật toán</a:t>
              </a:r>
            </a:p>
          </p:txBody>
        </p:sp>
      </p:grpSp>
      <p:grpSp>
        <p:nvGrpSpPr>
          <p:cNvPr name="Group 11" id="11"/>
          <p:cNvGrpSpPr/>
          <p:nvPr/>
        </p:nvGrpSpPr>
        <p:grpSpPr>
          <a:xfrm rot="0">
            <a:off x="15430959" y="752281"/>
            <a:ext cx="2190291" cy="809819"/>
            <a:chOff x="0" y="0"/>
            <a:chExt cx="2920388" cy="1079758"/>
          </a:xfrm>
        </p:grpSpPr>
        <p:sp>
          <p:nvSpPr>
            <p:cNvPr name="Freeform 12" id="12"/>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15430959" y="752281"/>
            <a:ext cx="2190291" cy="809819"/>
            <a:chOff x="0" y="0"/>
            <a:chExt cx="2920388" cy="1079758"/>
          </a:xfrm>
        </p:grpSpPr>
        <p:sp>
          <p:nvSpPr>
            <p:cNvPr name="Freeform 3" id="3"/>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666750" y="3320613"/>
            <a:ext cx="7515640" cy="3401475"/>
          </a:xfrm>
          <a:custGeom>
            <a:avLst/>
            <a:gdLst/>
            <a:ahLst/>
            <a:cxnLst/>
            <a:rect r="r" b="b" t="t" l="l"/>
            <a:pathLst>
              <a:path h="3401475" w="7515640">
                <a:moveTo>
                  <a:pt x="0" y="0"/>
                </a:moveTo>
                <a:lnTo>
                  <a:pt x="7515640" y="0"/>
                </a:lnTo>
                <a:lnTo>
                  <a:pt x="7515640" y="3401475"/>
                </a:lnTo>
                <a:lnTo>
                  <a:pt x="0" y="3401475"/>
                </a:lnTo>
                <a:lnTo>
                  <a:pt x="0" y="0"/>
                </a:lnTo>
                <a:close/>
              </a:path>
            </a:pathLst>
          </a:custGeom>
          <a:blipFill>
            <a:blip r:embed="rId4"/>
            <a:stretch>
              <a:fillRect l="0" t="0" r="0" b="0"/>
            </a:stretch>
          </a:blipFill>
        </p:spPr>
      </p:sp>
      <p:grpSp>
        <p:nvGrpSpPr>
          <p:cNvPr name="Group 7" id="7"/>
          <p:cNvGrpSpPr/>
          <p:nvPr/>
        </p:nvGrpSpPr>
        <p:grpSpPr>
          <a:xfrm rot="0">
            <a:off x="9144000" y="2135724"/>
            <a:ext cx="6886575" cy="2699385"/>
            <a:chOff x="0" y="0"/>
            <a:chExt cx="9182100" cy="3599180"/>
          </a:xfrm>
        </p:grpSpPr>
        <p:sp>
          <p:nvSpPr>
            <p:cNvPr name="TextBox 8" id="8"/>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Bài toán yêu cầu tìm hai phần tử trong mảng số nguyên sao cho tổng của chúng bằng một giá trị mục tiêu (target). Điều này giúp sinh viên hiểu cách duyệt qua các phần tử một cách có hệ thống để xác định các cặp phù hợp.</a:t>
              </a:r>
            </a:p>
          </p:txBody>
        </p:sp>
        <p:sp>
          <p:nvSpPr>
            <p:cNvPr name="TextBox 9" id="9"/>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Tìm phần tử</a:t>
              </a:r>
            </a:p>
          </p:txBody>
        </p:sp>
      </p:grpSp>
      <p:grpSp>
        <p:nvGrpSpPr>
          <p:cNvPr name="Group 10" id="10"/>
          <p:cNvGrpSpPr/>
          <p:nvPr/>
        </p:nvGrpSpPr>
        <p:grpSpPr>
          <a:xfrm rot="0">
            <a:off x="9144000" y="6636779"/>
            <a:ext cx="6886575" cy="2327910"/>
            <a:chOff x="0" y="0"/>
            <a:chExt cx="9182100" cy="3103880"/>
          </a:xfrm>
        </p:grpSpPr>
        <p:sp>
          <p:nvSpPr>
            <p:cNvPr name="TextBox 11" id="11"/>
            <p:cNvSpPr txBox="true"/>
            <p:nvPr/>
          </p:nvSpPr>
          <p:spPr>
            <a:xfrm rot="0">
              <a:off x="0" y="1155700"/>
              <a:ext cx="9182100" cy="19481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Người dùng sẽ nhập vào mảng số nguyên và giá trị mục tiêu. Chương trình sẽ xuất ra hai chỉ số i và j của các phần tử thỏa mãn điều kiện hoặc thông báo không tìm thấy nếu không có cặp nào.</a:t>
              </a:r>
            </a:p>
          </p:txBody>
        </p:sp>
        <p:sp>
          <p:nvSpPr>
            <p:cNvPr name="TextBox 12" id="12"/>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Nhập và xuất</a:t>
              </a:r>
            </a:p>
          </p:txBody>
        </p:sp>
      </p:grpSp>
      <p:grpSp>
        <p:nvGrpSpPr>
          <p:cNvPr name="Group 13" id="13"/>
          <p:cNvGrpSpPr/>
          <p:nvPr/>
        </p:nvGrpSpPr>
        <p:grpSpPr>
          <a:xfrm rot="0">
            <a:off x="666750" y="666750"/>
            <a:ext cx="11201400" cy="2162175"/>
            <a:chOff x="0" y="0"/>
            <a:chExt cx="14935200" cy="2882900"/>
          </a:xfrm>
        </p:grpSpPr>
        <p:sp>
          <p:nvSpPr>
            <p:cNvPr name="TextBox 14" id="14"/>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Mô tả bài toán</a:t>
              </a:r>
            </a:p>
          </p:txBody>
        </p:sp>
        <p:sp>
          <p:nvSpPr>
            <p:cNvPr name="TextBox 15" id="15"/>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Giải quyết bài toán Two Sum</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886575" cy="3070860"/>
            <a:chOff x="0" y="0"/>
            <a:chExt cx="9182100" cy="4094480"/>
          </a:xfrm>
        </p:grpSpPr>
        <p:sp>
          <p:nvSpPr>
            <p:cNvPr name="TextBox 3" id="3"/>
            <p:cNvSpPr txBox="true"/>
            <p:nvPr/>
          </p:nvSpPr>
          <p:spPr>
            <a:xfrm rot="0">
              <a:off x="0" y="1155700"/>
              <a:ext cx="91821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Để giải quyết bài toán Two Sum, chúng ta sẽ </a:t>
              </a:r>
              <a:r>
                <a:rPr lang="en-US" b="true" sz="2100">
                  <a:solidFill>
                    <a:srgbClr val="ECF0F1"/>
                  </a:solidFill>
                  <a:latin typeface="TT Fors Bold"/>
                  <a:ea typeface="TT Fors Bold"/>
                  <a:cs typeface="TT Fors Bold"/>
                  <a:sym typeface="TT Fors Bold"/>
                </a:rPr>
                <a:t>duyệt từng cặp</a:t>
              </a:r>
              <a:r>
                <a:rPr lang="en-US" sz="2100">
                  <a:solidFill>
                    <a:srgbClr val="ECF0F1"/>
                  </a:solidFill>
                  <a:latin typeface="TT Fors"/>
                  <a:ea typeface="TT Fors"/>
                  <a:cs typeface="TT Fors"/>
                  <a:sym typeface="TT Fors"/>
                </a:rPr>
                <a:t> phần tử trong mảng. Bằng cách sử dụng hai vòng lặp lồng nhau, ta sẽ kiểm tra các tổng của các cặp phần tử và so sánh với giá trị target. Nếu tìm thấy hai chỉ số thỏa mãn yêu cầu, ta sẽ lưu lại và in ra kết quả.</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Duyệt cặp phần tử</a:t>
              </a:r>
            </a:p>
          </p:txBody>
        </p:sp>
      </p:grpSp>
      <p:grpSp>
        <p:nvGrpSpPr>
          <p:cNvPr name="Group 5" id="5"/>
          <p:cNvGrpSpPr/>
          <p:nvPr/>
        </p:nvGrpSpPr>
        <p:grpSpPr>
          <a:xfrm rot="0">
            <a:off x="9296400" y="5143500"/>
            <a:ext cx="6886575" cy="2699385"/>
            <a:chOff x="0" y="0"/>
            <a:chExt cx="9182100" cy="3599180"/>
          </a:xfrm>
        </p:grpSpPr>
        <p:sp>
          <p:nvSpPr>
            <p:cNvPr name="TextBox 6" id="6"/>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Dưới đây là code mẫu minh họa cho bài toán. Sử dụng vòng lặp lồng nhau, ta sẽ duyệt tất cả các cặp phần tử. Mỗi vòng lặp sẽ kiểm tra tổng của hai phần tử và so sánh với target, nhằm tìm ra các chỉ số i và j thỏa mãn điều kiện của bài toán.</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Code mẫu</a:t>
              </a:r>
            </a:p>
          </p:txBody>
        </p:sp>
      </p:grpSp>
      <p:grpSp>
        <p:nvGrpSpPr>
          <p:cNvPr name="Group 8" id="8"/>
          <p:cNvGrpSpPr/>
          <p:nvPr/>
        </p:nvGrpSpPr>
        <p:grpSpPr>
          <a:xfrm rot="0">
            <a:off x="666750" y="666750"/>
            <a:ext cx="11201400" cy="2162175"/>
            <a:chOff x="0" y="0"/>
            <a:chExt cx="14935200" cy="2882900"/>
          </a:xfrm>
        </p:grpSpPr>
        <p:sp>
          <p:nvSpPr>
            <p:cNvPr name="TextBox 9" id="9"/>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Ý tưởng và Code</a:t>
              </a:r>
            </a:p>
          </p:txBody>
        </p:sp>
        <p:sp>
          <p:nvSpPr>
            <p:cNvPr name="TextBox 10" id="10"/>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Giải pháp bài toán</a:t>
              </a:r>
            </a:p>
          </p:txBody>
        </p:sp>
      </p:grpSp>
      <p:grpSp>
        <p:nvGrpSpPr>
          <p:cNvPr name="Group 11" id="11"/>
          <p:cNvGrpSpPr/>
          <p:nvPr/>
        </p:nvGrpSpPr>
        <p:grpSpPr>
          <a:xfrm rot="0">
            <a:off x="15430959" y="752281"/>
            <a:ext cx="2190291" cy="809819"/>
            <a:chOff x="0" y="0"/>
            <a:chExt cx="2920388" cy="1079758"/>
          </a:xfrm>
        </p:grpSpPr>
        <p:sp>
          <p:nvSpPr>
            <p:cNvPr name="Freeform 12" id="12"/>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15430959" y="752281"/>
            <a:ext cx="2190291" cy="809819"/>
            <a:chOff x="0" y="0"/>
            <a:chExt cx="2920388" cy="1079758"/>
          </a:xfrm>
        </p:grpSpPr>
        <p:sp>
          <p:nvSpPr>
            <p:cNvPr name="Freeform 3" id="3"/>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666750" y="3441642"/>
            <a:ext cx="6277926" cy="5129284"/>
          </a:xfrm>
          <a:custGeom>
            <a:avLst/>
            <a:gdLst/>
            <a:ahLst/>
            <a:cxnLst/>
            <a:rect r="r" b="b" t="t" l="l"/>
            <a:pathLst>
              <a:path h="5129284" w="6277926">
                <a:moveTo>
                  <a:pt x="0" y="0"/>
                </a:moveTo>
                <a:lnTo>
                  <a:pt x="6277926" y="0"/>
                </a:lnTo>
                <a:lnTo>
                  <a:pt x="6277926" y="5129283"/>
                </a:lnTo>
                <a:lnTo>
                  <a:pt x="0" y="5129283"/>
                </a:lnTo>
                <a:lnTo>
                  <a:pt x="0" y="0"/>
                </a:lnTo>
                <a:close/>
              </a:path>
            </a:pathLst>
          </a:custGeom>
          <a:blipFill>
            <a:blip r:embed="rId4"/>
            <a:stretch>
              <a:fillRect l="0" t="0" r="0" b="0"/>
            </a:stretch>
          </a:blipFill>
        </p:spPr>
      </p:sp>
      <p:grpSp>
        <p:nvGrpSpPr>
          <p:cNvPr name="Group 7" id="7"/>
          <p:cNvGrpSpPr/>
          <p:nvPr/>
        </p:nvGrpSpPr>
        <p:grpSpPr>
          <a:xfrm rot="0">
            <a:off x="8964560" y="2796675"/>
            <a:ext cx="6886575" cy="2327910"/>
            <a:chOff x="0" y="0"/>
            <a:chExt cx="9182100" cy="3103880"/>
          </a:xfrm>
        </p:grpSpPr>
        <p:sp>
          <p:nvSpPr>
            <p:cNvPr name="TextBox 8" id="8"/>
            <p:cNvSpPr txBox="true"/>
            <p:nvPr/>
          </p:nvSpPr>
          <p:spPr>
            <a:xfrm rot="0">
              <a:off x="0" y="1155700"/>
              <a:ext cx="9182100" cy="19481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Bài toán yêu cầu đưa tất cả các số 0 trong mảng về cuối mà không thay đổi thứ tự của các phần tử khác. Đây là một bài toán thú vị giúp rèn luyện tư duy lập trình và thao tác với mảng.</a:t>
              </a:r>
            </a:p>
          </p:txBody>
        </p:sp>
        <p:sp>
          <p:nvSpPr>
            <p:cNvPr name="TextBox 9" id="9"/>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Mô tả bài toán</a:t>
              </a:r>
            </a:p>
          </p:txBody>
        </p:sp>
      </p:grpSp>
      <p:grpSp>
        <p:nvGrpSpPr>
          <p:cNvPr name="Group 10" id="10"/>
          <p:cNvGrpSpPr/>
          <p:nvPr/>
        </p:nvGrpSpPr>
        <p:grpSpPr>
          <a:xfrm rot="0">
            <a:off x="8964560" y="6359159"/>
            <a:ext cx="6886575" cy="2327910"/>
            <a:chOff x="0" y="0"/>
            <a:chExt cx="9182100" cy="3103880"/>
          </a:xfrm>
        </p:grpSpPr>
        <p:sp>
          <p:nvSpPr>
            <p:cNvPr name="TextBox 11" id="11"/>
            <p:cNvSpPr txBox="true"/>
            <p:nvPr/>
          </p:nvSpPr>
          <p:spPr>
            <a:xfrm rot="0">
              <a:off x="0" y="1155700"/>
              <a:ext cx="9182100" cy="19481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Bằng cách sử dụng kỹ thuật Two Pointers, chúng ta có thể duyệt mảng một cách hiệu quả. Một con trỏ sẽ tìm vị trí các số không phải 0, trong khi con trỏ còn lại sẽ xác định vị trí để gán số 0 vào cuối mảng.</a:t>
              </a:r>
            </a:p>
          </p:txBody>
        </p:sp>
        <p:sp>
          <p:nvSpPr>
            <p:cNvPr name="TextBox 12" id="12"/>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Kỹ thuật Two Pointers</a:t>
              </a:r>
            </a:p>
          </p:txBody>
        </p:sp>
      </p:grpSp>
      <p:grpSp>
        <p:nvGrpSpPr>
          <p:cNvPr name="Group 13" id="13"/>
          <p:cNvGrpSpPr/>
          <p:nvPr/>
        </p:nvGrpSpPr>
        <p:grpSpPr>
          <a:xfrm rot="0">
            <a:off x="666750" y="666750"/>
            <a:ext cx="11201400" cy="2162175"/>
            <a:chOff x="0" y="0"/>
            <a:chExt cx="14935200" cy="2882900"/>
          </a:xfrm>
        </p:grpSpPr>
        <p:sp>
          <p:nvSpPr>
            <p:cNvPr name="TextBox 14" id="14"/>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Move Zeroes Problem</a:t>
              </a:r>
            </a:p>
          </p:txBody>
        </p:sp>
        <p:sp>
          <p:nvSpPr>
            <p:cNvPr name="TextBox 15" id="15"/>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Đưa số 0 về cuối</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886575" cy="2699385"/>
            <a:chOff x="0" y="0"/>
            <a:chExt cx="9182100" cy="3599180"/>
          </a:xfrm>
        </p:grpSpPr>
        <p:sp>
          <p:nvSpPr>
            <p:cNvPr name="TextBox 3" id="3"/>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Để thực hiện bài toán này, ta cần duyệt qua mảng và di chuyển tất cả các phần tử không phải 0 về phía trước. Điều này có thể thực hiện dễ dàng bằng cách sử dụng một biến chỉ số để theo dõi vị trí hiện tại của phần tử khác 0.</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Đẩy số không</a:t>
              </a:r>
            </a:p>
          </p:txBody>
        </p:sp>
      </p:grpSp>
      <p:grpSp>
        <p:nvGrpSpPr>
          <p:cNvPr name="Group 5" id="5"/>
          <p:cNvGrpSpPr/>
          <p:nvPr/>
        </p:nvGrpSpPr>
        <p:grpSpPr>
          <a:xfrm rot="0">
            <a:off x="9296400" y="5143500"/>
            <a:ext cx="6886575" cy="2699385"/>
            <a:chOff x="0" y="0"/>
            <a:chExt cx="9182100" cy="3599180"/>
          </a:xfrm>
        </p:grpSpPr>
        <p:sp>
          <p:nvSpPr>
            <p:cNvPr name="TextBox 6" id="6"/>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Sau khi đã di chuyển tất cả các số không phải 0 về trước, ta sẽ gán giá trị 0 cho các phần tử còn lại trong mảng. Điều này đảm bảo rằng thứ tự của các phần tử không phải 0 được giữ nguyên và tất cả các số 0 sẽ được đưa về cuối mảng một cách hiệu quả.</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Gán số 0</a:t>
              </a:r>
            </a:p>
          </p:txBody>
        </p:sp>
      </p:grpSp>
      <p:grpSp>
        <p:nvGrpSpPr>
          <p:cNvPr name="Group 8" id="8"/>
          <p:cNvGrpSpPr/>
          <p:nvPr/>
        </p:nvGrpSpPr>
        <p:grpSpPr>
          <a:xfrm rot="0">
            <a:off x="666750" y="666750"/>
            <a:ext cx="11201400" cy="2162175"/>
            <a:chOff x="0" y="0"/>
            <a:chExt cx="14935200" cy="2882900"/>
          </a:xfrm>
        </p:grpSpPr>
        <p:sp>
          <p:nvSpPr>
            <p:cNvPr name="TextBox 9" id="9"/>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Move Zeroes Code</a:t>
              </a:r>
            </a:p>
          </p:txBody>
        </p:sp>
        <p:sp>
          <p:nvSpPr>
            <p:cNvPr name="TextBox 10" id="10"/>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Phương pháp hiệu quả</a:t>
              </a:r>
            </a:p>
          </p:txBody>
        </p:sp>
      </p:grpSp>
      <p:grpSp>
        <p:nvGrpSpPr>
          <p:cNvPr name="Group 11" id="11"/>
          <p:cNvGrpSpPr/>
          <p:nvPr/>
        </p:nvGrpSpPr>
        <p:grpSpPr>
          <a:xfrm rot="0">
            <a:off x="15430959" y="752281"/>
            <a:ext cx="2190291" cy="809819"/>
            <a:chOff x="0" y="0"/>
            <a:chExt cx="2920388" cy="1079758"/>
          </a:xfrm>
        </p:grpSpPr>
        <p:sp>
          <p:nvSpPr>
            <p:cNvPr name="Freeform 12" id="12"/>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1201400" cy="2232026"/>
          </a:xfrm>
          <a:prstGeom prst="rect">
            <a:avLst/>
          </a:prstGeom>
        </p:spPr>
        <p:txBody>
          <a:bodyPr anchor="t" rtlCol="false" tIns="0" lIns="0" bIns="0" rIns="0">
            <a:spAutoFit/>
          </a:bodyPr>
          <a:lstStyle/>
          <a:p>
            <a:pPr algn="l" marL="0" indent="0" lvl="0">
              <a:lnSpc>
                <a:spcPts val="8000"/>
              </a:lnSpc>
            </a:pPr>
            <a:r>
              <a:rPr lang="en-US" sz="8000" spc="-240">
                <a:solidFill>
                  <a:srgbClr val="ECF0F1"/>
                </a:solidFill>
                <a:latin typeface="ITC Avant Garde Gothic"/>
                <a:ea typeface="ITC Avant Garde Gothic"/>
                <a:cs typeface="ITC Avant Garde Gothic"/>
                <a:sym typeface="ITC Avant Garde Gothic"/>
              </a:rPr>
              <a:t>Nhóm 2 – Chuỗi và Regex</a:t>
            </a:r>
          </a:p>
        </p:txBody>
      </p:sp>
      <p:grpSp>
        <p:nvGrpSpPr>
          <p:cNvPr name="Group 3" id="3"/>
          <p:cNvGrpSpPr/>
          <p:nvPr/>
        </p:nvGrpSpPr>
        <p:grpSpPr>
          <a:xfrm rot="0">
            <a:off x="14744700" y="7829550"/>
            <a:ext cx="4846643" cy="1791955"/>
            <a:chOff x="0" y="0"/>
            <a:chExt cx="6462190" cy="2389273"/>
          </a:xfrm>
        </p:grpSpPr>
        <p:sp>
          <p:nvSpPr>
            <p:cNvPr name="Freeform 4" id="4"/>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886575" cy="3070860"/>
            <a:chOff x="0" y="0"/>
            <a:chExt cx="9182100" cy="4094480"/>
          </a:xfrm>
        </p:grpSpPr>
        <p:sp>
          <p:nvSpPr>
            <p:cNvPr name="TextBox 3" id="3"/>
            <p:cNvSpPr txBox="true"/>
            <p:nvPr/>
          </p:nvSpPr>
          <p:spPr>
            <a:xfrm rot="0">
              <a:off x="0" y="1155700"/>
              <a:ext cx="91821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Nhóm này tập trung vào việc </a:t>
              </a:r>
              <a:r>
                <a:rPr lang="en-US" b="true" sz="2100">
                  <a:solidFill>
                    <a:srgbClr val="ECF0F1"/>
                  </a:solidFill>
                  <a:latin typeface="TT Fors Bold"/>
                  <a:ea typeface="TT Fors Bold"/>
                  <a:cs typeface="TT Fors Bold"/>
                  <a:sym typeface="TT Fors Bold"/>
                </a:rPr>
                <a:t>xử lý chuỗi thực tế</a:t>
              </a:r>
              <a:r>
                <a:rPr lang="en-US" sz="2100">
                  <a:solidFill>
                    <a:srgbClr val="ECF0F1"/>
                  </a:solidFill>
                  <a:latin typeface="TT Fors"/>
                  <a:ea typeface="TT Fors"/>
                  <a:cs typeface="TT Fors"/>
                  <a:sym typeface="TT Fors"/>
                </a:rPr>
                <a:t> trong Java. Sinh viên sẽ làm quen với các phương pháp để chuẩn hóa dữ liệu đầu vào, như loại bỏ các ký tự không hợp lệ và chuyển đổi chuỗi về dạng chữ thường. Kỹ năng này rất quan trọng trong việc phát hiện và xử lý thông tin từ dữ liệu không đồng nhất.</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Xử lý chuỗi</a:t>
              </a:r>
            </a:p>
          </p:txBody>
        </p:sp>
      </p:grpSp>
      <p:grpSp>
        <p:nvGrpSpPr>
          <p:cNvPr name="Group 5" id="5"/>
          <p:cNvGrpSpPr/>
          <p:nvPr/>
        </p:nvGrpSpPr>
        <p:grpSpPr>
          <a:xfrm rot="0">
            <a:off x="9296400" y="5143500"/>
            <a:ext cx="6886575" cy="3070860"/>
            <a:chOff x="0" y="0"/>
            <a:chExt cx="9182100" cy="4094480"/>
          </a:xfrm>
        </p:grpSpPr>
        <p:sp>
          <p:nvSpPr>
            <p:cNvPr name="TextBox 6" id="6"/>
            <p:cNvSpPr txBox="true"/>
            <p:nvPr/>
          </p:nvSpPr>
          <p:spPr>
            <a:xfrm rot="0">
              <a:off x="0" y="1155700"/>
              <a:ext cx="91821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Học sinh sẽ được giới thiệu về </a:t>
              </a:r>
              <a:r>
                <a:rPr lang="en-US" b="true" sz="2100">
                  <a:solidFill>
                    <a:srgbClr val="ECF0F1"/>
                  </a:solidFill>
                  <a:latin typeface="TT Fors Bold"/>
                  <a:ea typeface="TT Fors Bold"/>
                  <a:cs typeface="TT Fors Bold"/>
                  <a:sym typeface="TT Fors Bold"/>
                </a:rPr>
                <a:t>biểu thức chính quy (Regex)</a:t>
              </a:r>
              <a:r>
                <a:rPr lang="en-US" sz="2100">
                  <a:solidFill>
                    <a:srgbClr val="ECF0F1"/>
                  </a:solidFill>
                  <a:latin typeface="TT Fors"/>
                  <a:ea typeface="TT Fors"/>
                  <a:cs typeface="TT Fors"/>
                  <a:sym typeface="TT Fors"/>
                </a:rPr>
                <a:t>, một công cụ mạnh mẽ để xử lý và tìm kiếm chuỗi. Việc sử dụng Regex giúp chuẩn hóa dữ liệu và kiểm tra tính hợp lệ của chuỗi, như trong bài toán kiểm tra Palindrome, nơi các ký tự không hợp lệ sẽ bị loại bỏ để xác định tính đối xứng của chuỗi.</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Biểu thức chính quy</a:t>
              </a:r>
            </a:p>
          </p:txBody>
        </p:sp>
      </p:grpSp>
      <p:grpSp>
        <p:nvGrpSpPr>
          <p:cNvPr name="Group 8" id="8"/>
          <p:cNvGrpSpPr/>
          <p:nvPr/>
        </p:nvGrpSpPr>
        <p:grpSpPr>
          <a:xfrm rot="0">
            <a:off x="666750" y="666750"/>
            <a:ext cx="11201400" cy="2162175"/>
            <a:chOff x="0" y="0"/>
            <a:chExt cx="14935200" cy="2882900"/>
          </a:xfrm>
        </p:grpSpPr>
        <p:sp>
          <p:nvSpPr>
            <p:cNvPr name="TextBox 9" id="9"/>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Mục tiêu nhóm</a:t>
              </a:r>
            </a:p>
          </p:txBody>
        </p:sp>
        <p:sp>
          <p:nvSpPr>
            <p:cNvPr name="TextBox 10" id="10"/>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Xử lý chuỗi và Regex</a:t>
              </a:r>
            </a:p>
          </p:txBody>
        </p:sp>
      </p:grpSp>
      <p:grpSp>
        <p:nvGrpSpPr>
          <p:cNvPr name="Group 11" id="11"/>
          <p:cNvGrpSpPr/>
          <p:nvPr/>
        </p:nvGrpSpPr>
        <p:grpSpPr>
          <a:xfrm rot="0">
            <a:off x="15430959" y="752281"/>
            <a:ext cx="2190291" cy="809819"/>
            <a:chOff x="0" y="0"/>
            <a:chExt cx="2920388" cy="1079758"/>
          </a:xfrm>
        </p:grpSpPr>
        <p:sp>
          <p:nvSpPr>
            <p:cNvPr name="Freeform 12" id="12"/>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15430959" y="752281"/>
            <a:ext cx="2190291" cy="809819"/>
            <a:chOff x="0" y="0"/>
            <a:chExt cx="2920388" cy="1079758"/>
          </a:xfrm>
        </p:grpSpPr>
        <p:sp>
          <p:nvSpPr>
            <p:cNvPr name="Freeform 3" id="3"/>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666750" y="3617455"/>
            <a:ext cx="7795384" cy="1431554"/>
          </a:xfrm>
          <a:custGeom>
            <a:avLst/>
            <a:gdLst/>
            <a:ahLst/>
            <a:cxnLst/>
            <a:rect r="r" b="b" t="t" l="l"/>
            <a:pathLst>
              <a:path h="1431554" w="7795384">
                <a:moveTo>
                  <a:pt x="0" y="0"/>
                </a:moveTo>
                <a:lnTo>
                  <a:pt x="7795384" y="0"/>
                </a:lnTo>
                <a:lnTo>
                  <a:pt x="7795384" y="1431554"/>
                </a:lnTo>
                <a:lnTo>
                  <a:pt x="0" y="1431554"/>
                </a:lnTo>
                <a:lnTo>
                  <a:pt x="0" y="0"/>
                </a:lnTo>
                <a:close/>
              </a:path>
            </a:pathLst>
          </a:custGeom>
          <a:blipFill>
            <a:blip r:embed="rId4"/>
            <a:stretch>
              <a:fillRect l="0" t="0" r="-12103" b="0"/>
            </a:stretch>
          </a:blipFill>
        </p:spPr>
      </p:sp>
      <p:grpSp>
        <p:nvGrpSpPr>
          <p:cNvPr name="Group 7" id="7"/>
          <p:cNvGrpSpPr/>
          <p:nvPr/>
        </p:nvGrpSpPr>
        <p:grpSpPr>
          <a:xfrm rot="0">
            <a:off x="10104105" y="6930390"/>
            <a:ext cx="6886575" cy="2327910"/>
            <a:chOff x="0" y="0"/>
            <a:chExt cx="9182100" cy="3103880"/>
          </a:xfrm>
        </p:grpSpPr>
        <p:sp>
          <p:nvSpPr>
            <p:cNvPr name="TextBox 8" id="8"/>
            <p:cNvSpPr txBox="true"/>
            <p:nvPr/>
          </p:nvSpPr>
          <p:spPr>
            <a:xfrm rot="0">
              <a:off x="0" y="1155700"/>
              <a:ext cx="9182100" cy="19481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Để kiểm tra một chuỗi có phải là palindrome hay không, trước tiên cần </a:t>
              </a:r>
              <a:r>
                <a:rPr lang="en-US" b="true" sz="2100">
                  <a:solidFill>
                    <a:srgbClr val="ECF0F1"/>
                  </a:solidFill>
                  <a:latin typeface="TT Fors Bold"/>
                  <a:ea typeface="TT Fors Bold"/>
                  <a:cs typeface="TT Fors Bold"/>
                  <a:sym typeface="TT Fors Bold"/>
                </a:rPr>
                <a:t>loại bỏ ký tự không hợp lệ</a:t>
              </a:r>
              <a:r>
                <a:rPr lang="en-US" sz="2100">
                  <a:solidFill>
                    <a:srgbClr val="ECF0F1"/>
                  </a:solidFill>
                  <a:latin typeface="TT Fors"/>
                  <a:ea typeface="TT Fors"/>
                  <a:cs typeface="TT Fors"/>
                  <a:sym typeface="TT Fors"/>
                </a:rPr>
                <a:t>. Điều này có thể thực hiện dễ dàng bằng regex để đảm bảo chỉ còn lại các ký tự chữ cái và số.</a:t>
              </a:r>
            </a:p>
          </p:txBody>
        </p:sp>
        <p:sp>
          <p:nvSpPr>
            <p:cNvPr name="TextBox 9" id="9"/>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Loại bỏ ký tự</a:t>
              </a:r>
            </a:p>
          </p:txBody>
        </p:sp>
      </p:grpSp>
      <p:grpSp>
        <p:nvGrpSpPr>
          <p:cNvPr name="Group 10" id="10"/>
          <p:cNvGrpSpPr/>
          <p:nvPr/>
        </p:nvGrpSpPr>
        <p:grpSpPr>
          <a:xfrm rot="0">
            <a:off x="10104105" y="3699317"/>
            <a:ext cx="6886575" cy="2699385"/>
            <a:chOff x="0" y="0"/>
            <a:chExt cx="9182100" cy="3599180"/>
          </a:xfrm>
        </p:grpSpPr>
        <p:sp>
          <p:nvSpPr>
            <p:cNvPr name="TextBox 11" id="11"/>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Sau khi loại bỏ ký tự không hợp lệ, chuỗi cần được </a:t>
              </a:r>
              <a:r>
                <a:rPr lang="en-US" b="true" sz="2100">
                  <a:solidFill>
                    <a:srgbClr val="ECF0F1"/>
                  </a:solidFill>
                  <a:latin typeface="TT Fors Bold"/>
                  <a:ea typeface="TT Fors Bold"/>
                  <a:cs typeface="TT Fors Bold"/>
                  <a:sym typeface="TT Fors Bold"/>
                </a:rPr>
                <a:t>chuyển về chữ thường</a:t>
              </a:r>
              <a:r>
                <a:rPr lang="en-US" sz="2100">
                  <a:solidFill>
                    <a:srgbClr val="ECF0F1"/>
                  </a:solidFill>
                  <a:latin typeface="TT Fors"/>
                  <a:ea typeface="TT Fors"/>
                  <a:cs typeface="TT Fors"/>
                  <a:sym typeface="TT Fors"/>
                </a:rPr>
                <a:t> để việc so sánh được chính xác hơn. Điều này giúp tránh các vấn đề do sự khác biệt giữa chữ hoa và chữ thường khi kiểm tra tính đối xứng của chuỗi.</a:t>
              </a:r>
            </a:p>
          </p:txBody>
        </p:sp>
        <p:sp>
          <p:nvSpPr>
            <p:cNvPr name="TextBox 12" id="12"/>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Chuyển về chữ thường</a:t>
              </a:r>
            </a:p>
          </p:txBody>
        </p:sp>
      </p:grpSp>
      <p:grpSp>
        <p:nvGrpSpPr>
          <p:cNvPr name="Group 13" id="13"/>
          <p:cNvGrpSpPr/>
          <p:nvPr/>
        </p:nvGrpSpPr>
        <p:grpSpPr>
          <a:xfrm rot="0">
            <a:off x="666750" y="666750"/>
            <a:ext cx="11201400" cy="2162175"/>
            <a:chOff x="0" y="0"/>
            <a:chExt cx="14935200" cy="2882900"/>
          </a:xfrm>
        </p:grpSpPr>
        <p:sp>
          <p:nvSpPr>
            <p:cNvPr name="TextBox 14" id="14"/>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Valid Palindrome</a:t>
              </a:r>
            </a:p>
          </p:txBody>
        </p:sp>
        <p:sp>
          <p:nvSpPr>
            <p:cNvPr name="TextBox 15" id="15"/>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Xử lý chuỗi hợp lệ</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15430959" y="752281"/>
            <a:ext cx="2190291" cy="809819"/>
            <a:chOff x="0" y="0"/>
            <a:chExt cx="2920388" cy="1079758"/>
          </a:xfrm>
        </p:grpSpPr>
        <p:sp>
          <p:nvSpPr>
            <p:cNvPr name="Freeform 3" id="3"/>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666750" y="3293054"/>
            <a:ext cx="8268300" cy="4780111"/>
          </a:xfrm>
          <a:custGeom>
            <a:avLst/>
            <a:gdLst/>
            <a:ahLst/>
            <a:cxnLst/>
            <a:rect r="r" b="b" t="t" l="l"/>
            <a:pathLst>
              <a:path h="4780111" w="8268300">
                <a:moveTo>
                  <a:pt x="0" y="0"/>
                </a:moveTo>
                <a:lnTo>
                  <a:pt x="8268300" y="0"/>
                </a:lnTo>
                <a:lnTo>
                  <a:pt x="8268300" y="4780112"/>
                </a:lnTo>
                <a:lnTo>
                  <a:pt x="0" y="4780112"/>
                </a:lnTo>
                <a:lnTo>
                  <a:pt x="0" y="0"/>
                </a:lnTo>
                <a:close/>
              </a:path>
            </a:pathLst>
          </a:custGeom>
          <a:blipFill>
            <a:blip r:embed="rId4"/>
            <a:stretch>
              <a:fillRect l="0" t="0" r="0" b="0"/>
            </a:stretch>
          </a:blipFill>
        </p:spPr>
      </p:sp>
      <p:grpSp>
        <p:nvGrpSpPr>
          <p:cNvPr name="Group 7" id="7"/>
          <p:cNvGrpSpPr/>
          <p:nvPr/>
        </p:nvGrpSpPr>
        <p:grpSpPr>
          <a:xfrm rot="0">
            <a:off x="9639529" y="3045331"/>
            <a:ext cx="6886575" cy="1956435"/>
            <a:chOff x="0" y="0"/>
            <a:chExt cx="9182100" cy="2608580"/>
          </a:xfrm>
        </p:grpSpPr>
        <p:sp>
          <p:nvSpPr>
            <p:cNvPr name="TextBox 8" id="8"/>
            <p:cNvSpPr txBox="true"/>
            <p:nvPr/>
          </p:nvSpPr>
          <p:spPr>
            <a:xfrm rot="0">
              <a:off x="0" y="1155700"/>
              <a:ext cx="9182100" cy="14528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Sử dụng hai con trỏ để duyệt qua chuỗi từ hai phía, bắt đầu từ đầu và cuối. Nếu ký tự tại hai vị trí khác nhau, hàm sẽ trả về false.</a:t>
              </a:r>
            </a:p>
          </p:txBody>
        </p:sp>
        <p:sp>
          <p:nvSpPr>
            <p:cNvPr name="TextBox 9" id="9"/>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So sánh ký tự</a:t>
              </a:r>
            </a:p>
          </p:txBody>
        </p:sp>
      </p:grpSp>
      <p:grpSp>
        <p:nvGrpSpPr>
          <p:cNvPr name="Group 10" id="10"/>
          <p:cNvGrpSpPr/>
          <p:nvPr/>
        </p:nvGrpSpPr>
        <p:grpSpPr>
          <a:xfrm rot="0">
            <a:off x="9639529" y="5957927"/>
            <a:ext cx="6886575" cy="2327910"/>
            <a:chOff x="0" y="0"/>
            <a:chExt cx="9182100" cy="3103880"/>
          </a:xfrm>
        </p:grpSpPr>
        <p:sp>
          <p:nvSpPr>
            <p:cNvPr name="TextBox 11" id="11"/>
            <p:cNvSpPr txBox="true"/>
            <p:nvPr/>
          </p:nvSpPr>
          <p:spPr>
            <a:xfrm rot="0">
              <a:off x="0" y="1155700"/>
              <a:ext cx="9182100" cy="19481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Nếu tất cả các ký tự tương ứng đều giống nhau, hàm sẽ trả về true, chỉ ra rằng chuỗi là palindrome. Điều này giúp xác định tính đối xứng của chuỗi một cách hiệu quả.</a:t>
              </a:r>
            </a:p>
          </p:txBody>
        </p:sp>
        <p:sp>
          <p:nvSpPr>
            <p:cNvPr name="TextBox 12" id="12"/>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Trả về kết quả</a:t>
              </a:r>
            </a:p>
          </p:txBody>
        </p:sp>
      </p:grpSp>
      <p:grpSp>
        <p:nvGrpSpPr>
          <p:cNvPr name="Group 13" id="13"/>
          <p:cNvGrpSpPr/>
          <p:nvPr/>
        </p:nvGrpSpPr>
        <p:grpSpPr>
          <a:xfrm rot="0">
            <a:off x="666750" y="666750"/>
            <a:ext cx="11201400" cy="2162175"/>
            <a:chOff x="0" y="0"/>
            <a:chExt cx="14935200" cy="2882900"/>
          </a:xfrm>
        </p:grpSpPr>
        <p:sp>
          <p:nvSpPr>
            <p:cNvPr name="TextBox 14" id="14"/>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Kiểm tra Palindrome</a:t>
              </a:r>
            </a:p>
          </p:txBody>
        </p:sp>
        <p:sp>
          <p:nvSpPr>
            <p:cNvPr name="TextBox 15" id="15"/>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Sử dụng hai con trỏ</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15430959" y="752281"/>
            <a:ext cx="2190291" cy="809819"/>
            <a:chOff x="0" y="0"/>
            <a:chExt cx="2920388" cy="1079758"/>
          </a:xfrm>
        </p:grpSpPr>
        <p:sp>
          <p:nvSpPr>
            <p:cNvPr name="Freeform 3" id="3"/>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10266326" y="5349863"/>
            <a:ext cx="7904419" cy="3792293"/>
          </a:xfrm>
          <a:custGeom>
            <a:avLst/>
            <a:gdLst/>
            <a:ahLst/>
            <a:cxnLst/>
            <a:rect r="r" b="b" t="t" l="l"/>
            <a:pathLst>
              <a:path h="3792293" w="7904419">
                <a:moveTo>
                  <a:pt x="0" y="0"/>
                </a:moveTo>
                <a:lnTo>
                  <a:pt x="7904419" y="0"/>
                </a:lnTo>
                <a:lnTo>
                  <a:pt x="7904419" y="3792293"/>
                </a:lnTo>
                <a:lnTo>
                  <a:pt x="0" y="3792293"/>
                </a:lnTo>
                <a:lnTo>
                  <a:pt x="0" y="0"/>
                </a:lnTo>
                <a:close/>
              </a:path>
            </a:pathLst>
          </a:custGeom>
          <a:blipFill>
            <a:blip r:embed="rId4"/>
            <a:stretch>
              <a:fillRect l="0" t="0" r="0" b="0"/>
            </a:stretch>
          </a:blipFill>
        </p:spPr>
      </p:sp>
      <p:sp>
        <p:nvSpPr>
          <p:cNvPr name="Freeform 7" id="7"/>
          <p:cNvSpPr/>
          <p:nvPr/>
        </p:nvSpPr>
        <p:spPr>
          <a:xfrm flipH="false" flipV="false" rot="0">
            <a:off x="220528" y="6880088"/>
            <a:ext cx="8482113" cy="997143"/>
          </a:xfrm>
          <a:custGeom>
            <a:avLst/>
            <a:gdLst/>
            <a:ahLst/>
            <a:cxnLst/>
            <a:rect r="r" b="b" t="t" l="l"/>
            <a:pathLst>
              <a:path h="997143" w="8482113">
                <a:moveTo>
                  <a:pt x="0" y="0"/>
                </a:moveTo>
                <a:lnTo>
                  <a:pt x="8482113" y="0"/>
                </a:lnTo>
                <a:lnTo>
                  <a:pt x="8482113" y="997143"/>
                </a:lnTo>
                <a:lnTo>
                  <a:pt x="0" y="997143"/>
                </a:lnTo>
                <a:lnTo>
                  <a:pt x="0" y="0"/>
                </a:lnTo>
                <a:close/>
              </a:path>
            </a:pathLst>
          </a:custGeom>
          <a:blipFill>
            <a:blip r:embed="rId5"/>
            <a:stretch>
              <a:fillRect l="0" t="-26623" r="-1083" b="0"/>
            </a:stretch>
          </a:blipFill>
        </p:spPr>
      </p:sp>
      <p:grpSp>
        <p:nvGrpSpPr>
          <p:cNvPr name="Group 8" id="8"/>
          <p:cNvGrpSpPr/>
          <p:nvPr/>
        </p:nvGrpSpPr>
        <p:grpSpPr>
          <a:xfrm rot="0">
            <a:off x="220528" y="3793808"/>
            <a:ext cx="6886575" cy="2699385"/>
            <a:chOff x="0" y="0"/>
            <a:chExt cx="9182100" cy="3599180"/>
          </a:xfrm>
        </p:grpSpPr>
        <p:sp>
          <p:nvSpPr>
            <p:cNvPr name="TextBox 9" id="9"/>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Để đảo ngược thứ tự các từ trong một chuỗi có nhiều khoảng trắng, trước tiên, cần phải chuẩn hóa dữ liệu bằng cách loại bỏ các khoảng trắng dư thừa. Việc này giúp đảm bảo rằng chỉ có một khoảng trắng giữa các từ và không có khoảng trắng ở đầu hoặc cuối chuỗi.</a:t>
              </a:r>
            </a:p>
          </p:txBody>
        </p:sp>
        <p:sp>
          <p:nvSpPr>
            <p:cNvPr name="TextBox 10" id="10"/>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Chuỗi nhiều khoảng trắng</a:t>
              </a:r>
            </a:p>
          </p:txBody>
        </p:sp>
      </p:grpSp>
      <p:grpSp>
        <p:nvGrpSpPr>
          <p:cNvPr name="Group 11" id="11"/>
          <p:cNvGrpSpPr/>
          <p:nvPr/>
        </p:nvGrpSpPr>
        <p:grpSpPr>
          <a:xfrm rot="0">
            <a:off x="10372725" y="2453082"/>
            <a:ext cx="6886575" cy="2327910"/>
            <a:chOff x="0" y="0"/>
            <a:chExt cx="9182100" cy="3103880"/>
          </a:xfrm>
        </p:grpSpPr>
        <p:sp>
          <p:nvSpPr>
            <p:cNvPr name="TextBox 12" id="12"/>
            <p:cNvSpPr txBox="true"/>
            <p:nvPr/>
          </p:nvSpPr>
          <p:spPr>
            <a:xfrm rot="0">
              <a:off x="0" y="1155700"/>
              <a:ext cx="9182100" cy="19481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Sau khi chuẩn hóa, chúng ta sẽ tách chuỗi dựa trên các khoảng trắng sử dụng biểu thức chính quy "\s+". Điều này cho phép dễ dàng truy cập từng từ và sắp xếp lại thứ tự để đạt được kết quả mong muốn.</a:t>
              </a:r>
            </a:p>
          </p:txBody>
        </p:sp>
        <p:sp>
          <p:nvSpPr>
            <p:cNvPr name="TextBox 13" id="13"/>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Tách chuỗi</a:t>
              </a:r>
            </a:p>
          </p:txBody>
        </p:sp>
      </p:grpSp>
      <p:grpSp>
        <p:nvGrpSpPr>
          <p:cNvPr name="Group 14" id="14"/>
          <p:cNvGrpSpPr/>
          <p:nvPr/>
        </p:nvGrpSpPr>
        <p:grpSpPr>
          <a:xfrm rot="0">
            <a:off x="666750" y="666750"/>
            <a:ext cx="11201400" cy="2162175"/>
            <a:chOff x="0" y="0"/>
            <a:chExt cx="14935200" cy="2882900"/>
          </a:xfrm>
        </p:grpSpPr>
        <p:sp>
          <p:nvSpPr>
            <p:cNvPr name="TextBox 15" id="15"/>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Đảo ngược từ</a:t>
              </a:r>
            </a:p>
          </p:txBody>
        </p:sp>
        <p:sp>
          <p:nvSpPr>
            <p:cNvPr name="TextBox 16" id="16"/>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Xử lý chuỗi hiệu quả</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1201400" cy="2232026"/>
          </a:xfrm>
          <a:prstGeom prst="rect">
            <a:avLst/>
          </a:prstGeom>
        </p:spPr>
        <p:txBody>
          <a:bodyPr anchor="t" rtlCol="false" tIns="0" lIns="0" bIns="0" rIns="0">
            <a:spAutoFit/>
          </a:bodyPr>
          <a:lstStyle/>
          <a:p>
            <a:pPr algn="l" marL="0" indent="0" lvl="0">
              <a:lnSpc>
                <a:spcPts val="8000"/>
              </a:lnSpc>
            </a:pPr>
            <a:r>
              <a:rPr lang="en-US" sz="8000" spc="-240">
                <a:solidFill>
                  <a:srgbClr val="ECF0F1"/>
                </a:solidFill>
                <a:latin typeface="ITC Avant Garde Gothic"/>
                <a:ea typeface="ITC Avant Garde Gothic"/>
                <a:cs typeface="ITC Avant Garde Gothic"/>
                <a:sym typeface="ITC Avant Garde Gothic"/>
              </a:rPr>
              <a:t>Nhóm 3 – Số học &amp; Vòng lặp</a:t>
            </a:r>
          </a:p>
        </p:txBody>
      </p:sp>
      <p:grpSp>
        <p:nvGrpSpPr>
          <p:cNvPr name="Group 3" id="3"/>
          <p:cNvGrpSpPr/>
          <p:nvPr/>
        </p:nvGrpSpPr>
        <p:grpSpPr>
          <a:xfrm rot="0">
            <a:off x="14744700" y="7829550"/>
            <a:ext cx="4846643" cy="1791955"/>
            <a:chOff x="0" y="0"/>
            <a:chExt cx="6462190" cy="2389273"/>
          </a:xfrm>
        </p:grpSpPr>
        <p:sp>
          <p:nvSpPr>
            <p:cNvPr name="Freeform 4" id="4"/>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886575" cy="2699385"/>
            <a:chOff x="0" y="0"/>
            <a:chExt cx="9182100" cy="3599180"/>
          </a:xfrm>
        </p:grpSpPr>
        <p:sp>
          <p:nvSpPr>
            <p:cNvPr name="TextBox 3" id="3"/>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Mục tiêu chính của nhóm là rèn luyện </a:t>
              </a:r>
              <a:r>
                <a:rPr lang="en-US" b="true" sz="2100">
                  <a:solidFill>
                    <a:srgbClr val="ECF0F1"/>
                  </a:solidFill>
                  <a:latin typeface="TT Fors Bold"/>
                  <a:ea typeface="TT Fors Bold"/>
                  <a:cs typeface="TT Fors Bold"/>
                  <a:sym typeface="TT Fors Bold"/>
                </a:rPr>
                <a:t>tư duy vòng lặp</a:t>
              </a:r>
              <a:r>
                <a:rPr lang="en-US" sz="2100">
                  <a:solidFill>
                    <a:srgbClr val="ECF0F1"/>
                  </a:solidFill>
                  <a:latin typeface="TT Fors"/>
                  <a:ea typeface="TT Fors"/>
                  <a:cs typeface="TT Fors"/>
                  <a:sym typeface="TT Fors"/>
                </a:rPr>
                <a:t> thông qua việc tính tổng bình phương của các chữ số. Bằng cách sử dụng vòng lặp, sinh viên có thể hiểu cách kiểm soát luồng chương trình và thực hành các thuật toán cơ bản.</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Tính tổng bình phương</a:t>
              </a:r>
            </a:p>
          </p:txBody>
        </p:sp>
      </p:grpSp>
      <p:grpSp>
        <p:nvGrpSpPr>
          <p:cNvPr name="Group 5" id="5"/>
          <p:cNvGrpSpPr/>
          <p:nvPr/>
        </p:nvGrpSpPr>
        <p:grpSpPr>
          <a:xfrm rot="0">
            <a:off x="9296400" y="5143500"/>
            <a:ext cx="6886575" cy="2327910"/>
            <a:chOff x="0" y="0"/>
            <a:chExt cx="9182100" cy="3103880"/>
          </a:xfrm>
        </p:grpSpPr>
        <p:sp>
          <p:nvSpPr>
            <p:cNvPr name="TextBox 6" id="6"/>
            <p:cNvSpPr txBox="true"/>
            <p:nvPr/>
          </p:nvSpPr>
          <p:spPr>
            <a:xfrm rot="0">
              <a:off x="0" y="1155700"/>
              <a:ext cx="9182100" cy="19481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Chương trình sẽ dừng lại khi tổng bình phương đạt giá trị </a:t>
              </a:r>
              <a:r>
                <a:rPr lang="en-US" b="true" sz="2100">
                  <a:solidFill>
                    <a:srgbClr val="ECF0F1"/>
                  </a:solidFill>
                  <a:latin typeface="TT Fors Bold"/>
                  <a:ea typeface="TT Fors Bold"/>
                  <a:cs typeface="TT Fors Bold"/>
                  <a:sym typeface="TT Fors Bold"/>
                </a:rPr>
                <a:t>1</a:t>
              </a:r>
              <a:r>
                <a:rPr lang="en-US" sz="2100">
                  <a:solidFill>
                    <a:srgbClr val="ECF0F1"/>
                  </a:solidFill>
                  <a:latin typeface="TT Fors"/>
                  <a:ea typeface="TT Fors"/>
                  <a:cs typeface="TT Fors"/>
                  <a:sym typeface="TT Fors"/>
                </a:rPr>
                <a:t> hoặc rơi vào vòng lặp vô hạn. Điều này giúp sinh viên phát triển kỹ năng tư duy logic và khả năng giải quyết vấn đề trong lập trình Java.</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Dừng khi bằng 1</a:t>
              </a:r>
            </a:p>
          </p:txBody>
        </p:sp>
      </p:grpSp>
      <p:grpSp>
        <p:nvGrpSpPr>
          <p:cNvPr name="Group 8" id="8"/>
          <p:cNvGrpSpPr/>
          <p:nvPr/>
        </p:nvGrpSpPr>
        <p:grpSpPr>
          <a:xfrm rot="0">
            <a:off x="666750" y="666750"/>
            <a:ext cx="11201400" cy="2162175"/>
            <a:chOff x="0" y="0"/>
            <a:chExt cx="14935200" cy="2882900"/>
          </a:xfrm>
        </p:grpSpPr>
        <p:sp>
          <p:nvSpPr>
            <p:cNvPr name="TextBox 9" id="9"/>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Mục tiêu rèn luyện</a:t>
              </a:r>
            </a:p>
          </p:txBody>
        </p:sp>
        <p:sp>
          <p:nvSpPr>
            <p:cNvPr name="TextBox 10" id="10"/>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Tư duy vòng lặp hiệu quả</a:t>
              </a:r>
            </a:p>
          </p:txBody>
        </p:sp>
      </p:grpSp>
      <p:grpSp>
        <p:nvGrpSpPr>
          <p:cNvPr name="Group 11" id="11"/>
          <p:cNvGrpSpPr/>
          <p:nvPr/>
        </p:nvGrpSpPr>
        <p:grpSpPr>
          <a:xfrm rot="0">
            <a:off x="15430959" y="752281"/>
            <a:ext cx="2190291" cy="809819"/>
            <a:chOff x="0" y="0"/>
            <a:chExt cx="2920388" cy="1079758"/>
          </a:xfrm>
        </p:grpSpPr>
        <p:sp>
          <p:nvSpPr>
            <p:cNvPr name="Freeform 12" id="12"/>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15430959" y="752281"/>
            <a:ext cx="2190291" cy="809819"/>
            <a:chOff x="0" y="0"/>
            <a:chExt cx="2920388" cy="1079758"/>
          </a:xfrm>
        </p:grpSpPr>
        <p:sp>
          <p:nvSpPr>
            <p:cNvPr name="Freeform 3" id="3"/>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666750" y="3256612"/>
            <a:ext cx="5280889" cy="5067950"/>
          </a:xfrm>
          <a:custGeom>
            <a:avLst/>
            <a:gdLst/>
            <a:ahLst/>
            <a:cxnLst/>
            <a:rect r="r" b="b" t="t" l="l"/>
            <a:pathLst>
              <a:path h="5067950" w="5280889">
                <a:moveTo>
                  <a:pt x="0" y="0"/>
                </a:moveTo>
                <a:lnTo>
                  <a:pt x="5280889" y="0"/>
                </a:lnTo>
                <a:lnTo>
                  <a:pt x="5280889" y="5067951"/>
                </a:lnTo>
                <a:lnTo>
                  <a:pt x="0" y="5067951"/>
                </a:lnTo>
                <a:lnTo>
                  <a:pt x="0" y="0"/>
                </a:lnTo>
                <a:close/>
              </a:path>
            </a:pathLst>
          </a:custGeom>
          <a:blipFill>
            <a:blip r:embed="rId4"/>
            <a:stretch>
              <a:fillRect l="0" t="0" r="0" b="0"/>
            </a:stretch>
          </a:blipFill>
        </p:spPr>
      </p:sp>
      <p:grpSp>
        <p:nvGrpSpPr>
          <p:cNvPr name="Group 7" id="7"/>
          <p:cNvGrpSpPr/>
          <p:nvPr/>
        </p:nvGrpSpPr>
        <p:grpSpPr>
          <a:xfrm rot="0">
            <a:off x="9296400" y="2372638"/>
            <a:ext cx="6886575" cy="2327910"/>
            <a:chOff x="0" y="0"/>
            <a:chExt cx="9182100" cy="3103880"/>
          </a:xfrm>
        </p:grpSpPr>
        <p:sp>
          <p:nvSpPr>
            <p:cNvPr name="TextBox 8" id="8"/>
            <p:cNvSpPr txBox="true"/>
            <p:nvPr/>
          </p:nvSpPr>
          <p:spPr>
            <a:xfrm rot="0">
              <a:off x="0" y="1155700"/>
              <a:ext cx="9182100" cy="19481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Sử dụng vòng lặp while để kiểm tra xem số n có phải là một số hạnh phúc hay không. Vòng lặp sẽ tiếp tục chạy cho đến khi n bằng 1 hoặc n bằng 4, chỉ số 4 cho thấy rằng nó đã rơi vào vòng lặp vô hạn.</a:t>
              </a:r>
            </a:p>
          </p:txBody>
        </p:sp>
        <p:sp>
          <p:nvSpPr>
            <p:cNvPr name="TextBox 9" id="9"/>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Vòng lặp while</a:t>
              </a:r>
            </a:p>
          </p:txBody>
        </p:sp>
      </p:grpSp>
      <p:grpSp>
        <p:nvGrpSpPr>
          <p:cNvPr name="Group 10" id="10"/>
          <p:cNvGrpSpPr/>
          <p:nvPr/>
        </p:nvGrpSpPr>
        <p:grpSpPr>
          <a:xfrm rot="0">
            <a:off x="9296400" y="5143500"/>
            <a:ext cx="6886575" cy="2327910"/>
            <a:chOff x="0" y="0"/>
            <a:chExt cx="9182100" cy="3103880"/>
          </a:xfrm>
        </p:grpSpPr>
        <p:sp>
          <p:nvSpPr>
            <p:cNvPr name="TextBox 11" id="11"/>
            <p:cNvSpPr txBox="true"/>
            <p:nvPr/>
          </p:nvSpPr>
          <p:spPr>
            <a:xfrm rot="0">
              <a:off x="0" y="1155700"/>
              <a:ext cx="9182100" cy="19481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Trong vòng lặp con, tính tổng bình phương của các chữ số của n, sau đó cập nhật giá trị của n. Nếu n bằng 1, hàm sẽ trả về true, ngược lại, nếu rơi vào vòng lặp, hàm sẽ kết thúc mà không trả về true.</a:t>
              </a:r>
            </a:p>
          </p:txBody>
        </p:sp>
        <p:sp>
          <p:nvSpPr>
            <p:cNvPr name="TextBox 12" id="12"/>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Tính tổng bình phương</a:t>
              </a:r>
            </a:p>
          </p:txBody>
        </p:sp>
      </p:grpSp>
      <p:grpSp>
        <p:nvGrpSpPr>
          <p:cNvPr name="Group 13" id="13"/>
          <p:cNvGrpSpPr/>
          <p:nvPr/>
        </p:nvGrpSpPr>
        <p:grpSpPr>
          <a:xfrm rot="0">
            <a:off x="666750" y="666750"/>
            <a:ext cx="11201400" cy="2162175"/>
            <a:chOff x="0" y="0"/>
            <a:chExt cx="14935200" cy="2882900"/>
          </a:xfrm>
        </p:grpSpPr>
        <p:sp>
          <p:nvSpPr>
            <p:cNvPr name="TextBox 14" id="14"/>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Happy Number Code</a:t>
              </a:r>
            </a:p>
          </p:txBody>
        </p:sp>
        <p:sp>
          <p:nvSpPr>
            <p:cNvPr name="TextBox 15" id="15"/>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Minh họa cho bài toán</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1201400" cy="2232026"/>
          </a:xfrm>
          <a:prstGeom prst="rect">
            <a:avLst/>
          </a:prstGeom>
        </p:spPr>
        <p:txBody>
          <a:bodyPr anchor="t" rtlCol="false" tIns="0" lIns="0" bIns="0" rIns="0">
            <a:spAutoFit/>
          </a:bodyPr>
          <a:lstStyle/>
          <a:p>
            <a:pPr algn="l" marL="0" indent="0" lvl="0">
              <a:lnSpc>
                <a:spcPts val="8000"/>
              </a:lnSpc>
            </a:pPr>
            <a:r>
              <a:rPr lang="en-US" sz="8000" spc="-240">
                <a:solidFill>
                  <a:srgbClr val="ECF0F1"/>
                </a:solidFill>
                <a:latin typeface="ITC Avant Garde Gothic"/>
                <a:ea typeface="ITC Avant Garde Gothic"/>
                <a:cs typeface="ITC Avant Garde Gothic"/>
                <a:sym typeface="ITC Avant Garde Gothic"/>
              </a:rPr>
              <a:t>Menu và Chương Trình Chính</a:t>
            </a:r>
          </a:p>
        </p:txBody>
      </p:sp>
      <p:grpSp>
        <p:nvGrpSpPr>
          <p:cNvPr name="Group 3" id="3"/>
          <p:cNvGrpSpPr/>
          <p:nvPr/>
        </p:nvGrpSpPr>
        <p:grpSpPr>
          <a:xfrm rot="0">
            <a:off x="14744700" y="7829550"/>
            <a:ext cx="4846643" cy="1791955"/>
            <a:chOff x="0" y="0"/>
            <a:chExt cx="6462190" cy="2389273"/>
          </a:xfrm>
        </p:grpSpPr>
        <p:sp>
          <p:nvSpPr>
            <p:cNvPr name="Freeform 4" id="4"/>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886575" cy="2699385"/>
            <a:chOff x="0" y="0"/>
            <a:chExt cx="9182100" cy="3599180"/>
          </a:xfrm>
        </p:grpSpPr>
        <p:sp>
          <p:nvSpPr>
            <p:cNvPr name="TextBox 3" id="3"/>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Sử dụng lớp Scanner giúp </a:t>
              </a:r>
              <a:r>
                <a:rPr lang="en-US" b="true" sz="2100">
                  <a:solidFill>
                    <a:srgbClr val="ECF0F1"/>
                  </a:solidFill>
                  <a:latin typeface="TT Fors Bold"/>
                  <a:ea typeface="TT Fors Bold"/>
                  <a:cs typeface="TT Fors Bold"/>
                  <a:sym typeface="TT Fors Bold"/>
                </a:rPr>
                <a:t>người dùng nhập dữ liệu</a:t>
              </a:r>
              <a:r>
                <a:rPr lang="en-US" sz="2100">
                  <a:solidFill>
                    <a:srgbClr val="ECF0F1"/>
                  </a:solidFill>
                  <a:latin typeface="TT Fors"/>
                  <a:ea typeface="TT Fors"/>
                  <a:cs typeface="TT Fors"/>
                  <a:sym typeface="TT Fors"/>
                </a:rPr>
                <a:t> dễ dàng từ bàn phím. Chương trình sẽ đọc dữ liệu và xử lý theo từng yêu cầu. Bằng cách này, người dùng có thể tương tác trực tiếp với ứng dụng console, làm cho trải nghiệm sử dụng trở nên thân thiện và linh hoạt hơn.</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Nhập dữ liệu</a:t>
              </a:r>
            </a:p>
          </p:txBody>
        </p:sp>
      </p:grpSp>
      <p:grpSp>
        <p:nvGrpSpPr>
          <p:cNvPr name="Group 5" id="5"/>
          <p:cNvGrpSpPr/>
          <p:nvPr/>
        </p:nvGrpSpPr>
        <p:grpSpPr>
          <a:xfrm rot="0">
            <a:off x="9296400" y="5143500"/>
            <a:ext cx="6886575" cy="3070860"/>
            <a:chOff x="0" y="0"/>
            <a:chExt cx="9182100" cy="4094480"/>
          </a:xfrm>
        </p:grpSpPr>
        <p:sp>
          <p:nvSpPr>
            <p:cNvPr name="TextBox 6" id="6"/>
            <p:cNvSpPr txBox="true"/>
            <p:nvPr/>
          </p:nvSpPr>
          <p:spPr>
            <a:xfrm rot="0">
              <a:off x="0" y="1155700"/>
              <a:ext cx="9182100" cy="29387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Vòng lặp do-while được sử dụng để </a:t>
              </a:r>
              <a:r>
                <a:rPr lang="en-US" b="true" sz="2100">
                  <a:solidFill>
                    <a:srgbClr val="ECF0F1"/>
                  </a:solidFill>
                  <a:latin typeface="TT Fors Bold"/>
                  <a:ea typeface="TT Fors Bold"/>
                  <a:cs typeface="TT Fors Bold"/>
                  <a:sym typeface="TT Fors Bold"/>
                </a:rPr>
                <a:t>hiển thị menu</a:t>
              </a:r>
              <a:r>
                <a:rPr lang="en-US" sz="2100">
                  <a:solidFill>
                    <a:srgbClr val="ECF0F1"/>
                  </a:solidFill>
                  <a:latin typeface="TT Fors"/>
                  <a:ea typeface="TT Fors"/>
                  <a:cs typeface="TT Fors"/>
                  <a:sym typeface="TT Fors"/>
                </a:rPr>
                <a:t> liên tục, cho phép người dùng chọn các chức năng khác nhau. Áp dụng cấu trúc switch-case, chương trình dễ dàng xử lý các lựa chọn và thực hiện các thao tác tương ứng, đồng thời đảm bảo giao diện console luôn rõ ràng và dễ hiểu.</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Quản lý menu</a:t>
              </a:r>
            </a:p>
          </p:txBody>
        </p:sp>
      </p:grpSp>
      <p:grpSp>
        <p:nvGrpSpPr>
          <p:cNvPr name="Group 8" id="8"/>
          <p:cNvGrpSpPr/>
          <p:nvPr/>
        </p:nvGrpSpPr>
        <p:grpSpPr>
          <a:xfrm rot="0">
            <a:off x="666750" y="666750"/>
            <a:ext cx="11201400" cy="3171825"/>
            <a:chOff x="0" y="0"/>
            <a:chExt cx="14935200" cy="4229100"/>
          </a:xfrm>
        </p:grpSpPr>
        <p:sp>
          <p:nvSpPr>
            <p:cNvPr name="TextBox 9" id="9"/>
            <p:cNvSpPr txBox="true"/>
            <p:nvPr/>
          </p:nvSpPr>
          <p:spPr>
            <a:xfrm rot="0">
              <a:off x="0" y="-9525"/>
              <a:ext cx="149352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Xây dựng giao diện console</a:t>
              </a:r>
            </a:p>
          </p:txBody>
        </p:sp>
        <p:sp>
          <p:nvSpPr>
            <p:cNvPr name="TextBox 10" id="10"/>
            <p:cNvSpPr txBox="true"/>
            <p:nvPr/>
          </p:nvSpPr>
          <p:spPr>
            <a:xfrm rot="0">
              <a:off x="0" y="35814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Sử dụng Java hiệu quả</a:t>
              </a:r>
            </a:p>
          </p:txBody>
        </p:sp>
      </p:grpSp>
      <p:grpSp>
        <p:nvGrpSpPr>
          <p:cNvPr name="Group 11" id="11"/>
          <p:cNvGrpSpPr/>
          <p:nvPr/>
        </p:nvGrpSpPr>
        <p:grpSpPr>
          <a:xfrm rot="0">
            <a:off x="15430959" y="752281"/>
            <a:ext cx="2190291" cy="809819"/>
            <a:chOff x="0" y="0"/>
            <a:chExt cx="2920388" cy="1079758"/>
          </a:xfrm>
        </p:grpSpPr>
        <p:sp>
          <p:nvSpPr>
            <p:cNvPr name="Freeform 12" id="12"/>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1201400" cy="1222376"/>
          </a:xfrm>
          <a:prstGeom prst="rect">
            <a:avLst/>
          </a:prstGeom>
        </p:spPr>
        <p:txBody>
          <a:bodyPr anchor="t" rtlCol="false" tIns="0" lIns="0" bIns="0" rIns="0">
            <a:spAutoFit/>
          </a:bodyPr>
          <a:lstStyle/>
          <a:p>
            <a:pPr algn="l" marL="0" indent="0" lvl="0">
              <a:lnSpc>
                <a:spcPts val="8000"/>
              </a:lnSpc>
            </a:pPr>
            <a:r>
              <a:rPr lang="en-US" sz="8000" spc="-240">
                <a:solidFill>
                  <a:srgbClr val="ECF0F1"/>
                </a:solidFill>
                <a:latin typeface="ITC Avant Garde Gothic"/>
                <a:ea typeface="ITC Avant Garde Gothic"/>
                <a:cs typeface="ITC Avant Garde Gothic"/>
                <a:sym typeface="ITC Avant Garde Gothic"/>
              </a:rPr>
              <a:t>Kết luận và Khuyến nghị</a:t>
            </a:r>
          </a:p>
        </p:txBody>
      </p:sp>
      <p:grpSp>
        <p:nvGrpSpPr>
          <p:cNvPr name="Group 3" id="3"/>
          <p:cNvGrpSpPr/>
          <p:nvPr/>
        </p:nvGrpSpPr>
        <p:grpSpPr>
          <a:xfrm rot="0">
            <a:off x="14744700" y="7829550"/>
            <a:ext cx="4846643" cy="1791955"/>
            <a:chOff x="0" y="0"/>
            <a:chExt cx="6462190" cy="2389273"/>
          </a:xfrm>
        </p:grpSpPr>
        <p:sp>
          <p:nvSpPr>
            <p:cNvPr name="Freeform 4" id="4"/>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886575" cy="2699385"/>
            <a:chOff x="0" y="0"/>
            <a:chExt cx="9182100" cy="3599180"/>
          </a:xfrm>
        </p:grpSpPr>
        <p:sp>
          <p:nvSpPr>
            <p:cNvPr name="TextBox 3" id="3"/>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Ứng dụng Java Console cung cấp một nền tảng vững chắc để </a:t>
              </a:r>
              <a:r>
                <a:rPr lang="en-US" b="true" sz="2100">
                  <a:solidFill>
                    <a:srgbClr val="ECF0F1"/>
                  </a:solidFill>
                  <a:latin typeface="TT Fors Bold"/>
                  <a:ea typeface="TT Fors Bold"/>
                  <a:cs typeface="TT Fors Bold"/>
                  <a:sym typeface="TT Fors Bold"/>
                </a:rPr>
                <a:t>nâng cao kỹ năng lập trình</a:t>
              </a:r>
              <a:r>
                <a:rPr lang="en-US" sz="2100">
                  <a:solidFill>
                    <a:srgbClr val="ECF0F1"/>
                  </a:solidFill>
                  <a:latin typeface="TT Fors"/>
                  <a:ea typeface="TT Fors"/>
                  <a:cs typeface="TT Fors"/>
                  <a:sym typeface="TT Fors"/>
                </a:rPr>
                <a:t> cho sinh viên. Qua việc thực hành với các bài toán cụ thể, sinh viên sẽ phát triển khả năng tư duy logic và giải quyết vấn đề hiệu quả.</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Kỹ năng rèn luyện</a:t>
              </a:r>
            </a:p>
          </p:txBody>
        </p:sp>
      </p:grpSp>
      <p:grpSp>
        <p:nvGrpSpPr>
          <p:cNvPr name="Group 5" id="5"/>
          <p:cNvGrpSpPr/>
          <p:nvPr/>
        </p:nvGrpSpPr>
        <p:grpSpPr>
          <a:xfrm rot="0">
            <a:off x="9296400" y="5143500"/>
            <a:ext cx="6886575" cy="2699385"/>
            <a:chOff x="0" y="0"/>
            <a:chExt cx="9182100" cy="3599180"/>
          </a:xfrm>
        </p:grpSpPr>
        <p:sp>
          <p:nvSpPr>
            <p:cNvPr name="TextBox 6" id="6"/>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ECF0F1"/>
                  </a:solidFill>
                  <a:latin typeface="TT Fors"/>
                  <a:ea typeface="TT Fors"/>
                  <a:cs typeface="TT Fors"/>
                  <a:sym typeface="TT Fors"/>
                </a:rPr>
                <a:t>Việc luyện tập thường xuyên sẽ </a:t>
              </a:r>
              <a:r>
                <a:rPr lang="en-US" b="true" sz="2100">
                  <a:solidFill>
                    <a:srgbClr val="ECF0F1"/>
                  </a:solidFill>
                  <a:latin typeface="TT Fors Bold"/>
                  <a:ea typeface="TT Fors Bold"/>
                  <a:cs typeface="TT Fors Bold"/>
                  <a:sym typeface="TT Fors Bold"/>
                </a:rPr>
                <a:t>giúp sinh viên tự tin</a:t>
              </a:r>
              <a:r>
                <a:rPr lang="en-US" sz="2100">
                  <a:solidFill>
                    <a:srgbClr val="ECF0F1"/>
                  </a:solidFill>
                  <a:latin typeface="TT Fors"/>
                  <a:ea typeface="TT Fors"/>
                  <a:cs typeface="TT Fors"/>
                  <a:sym typeface="TT Fors"/>
                </a:rPr>
                <a:t> hơn trong việc giải quyết các bài toán thuật toán thực tế. Chúng ta cần khuyến khích sinh viên tiếp tục thực hành và áp dụng kiến thức đã học vào các dự án thực tiễn.</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ECF0F1"/>
                  </a:solidFill>
                  <a:latin typeface="ITC Avant Garde Gothic"/>
                  <a:ea typeface="ITC Avant Garde Gothic"/>
                  <a:cs typeface="ITC Avant Garde Gothic"/>
                  <a:sym typeface="ITC Avant Garde Gothic"/>
                </a:rPr>
                <a:t>Khuyến khích luyện tập</a:t>
              </a:r>
            </a:p>
          </p:txBody>
        </p:sp>
      </p:grpSp>
      <p:grpSp>
        <p:nvGrpSpPr>
          <p:cNvPr name="Group 8" id="8"/>
          <p:cNvGrpSpPr/>
          <p:nvPr/>
        </p:nvGrpSpPr>
        <p:grpSpPr>
          <a:xfrm rot="0">
            <a:off x="666750" y="666750"/>
            <a:ext cx="11201400" cy="2162175"/>
            <a:chOff x="0" y="0"/>
            <a:chExt cx="14935200" cy="2882900"/>
          </a:xfrm>
        </p:grpSpPr>
        <p:sp>
          <p:nvSpPr>
            <p:cNvPr name="TextBox 9" id="9"/>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Tóm tắt chương trình</a:t>
              </a:r>
            </a:p>
          </p:txBody>
        </p:sp>
        <p:sp>
          <p:nvSpPr>
            <p:cNvPr name="TextBox 10" id="10"/>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498DB"/>
                  </a:solidFill>
                  <a:latin typeface="TT Fors"/>
                  <a:ea typeface="TT Fors"/>
                  <a:cs typeface="TT Fors"/>
                  <a:sym typeface="TT Fors"/>
                </a:rPr>
                <a:t>Kết nối kiến thức lập trình</a:t>
              </a:r>
            </a:p>
          </p:txBody>
        </p:sp>
      </p:grpSp>
      <p:grpSp>
        <p:nvGrpSpPr>
          <p:cNvPr name="Group 11" id="11"/>
          <p:cNvGrpSpPr/>
          <p:nvPr/>
        </p:nvGrpSpPr>
        <p:grpSpPr>
          <a:xfrm rot="0">
            <a:off x="15430959" y="752281"/>
            <a:ext cx="2190291" cy="809819"/>
            <a:chOff x="0" y="0"/>
            <a:chExt cx="2920388" cy="1079758"/>
          </a:xfrm>
        </p:grpSpPr>
        <p:sp>
          <p:nvSpPr>
            <p:cNvPr name="Freeform 12" id="12"/>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2C3E50"/>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764443" cy="2309817"/>
          </a:xfrm>
        </p:grpSpPr>
        <p:sp>
          <p:nvSpPr>
            <p:cNvPr name="Freeform 3" id="3"/>
            <p:cNvSpPr/>
            <p:nvPr/>
          </p:nvSpPr>
          <p:spPr>
            <a:xfrm flipH="false" flipV="false" rot="0">
              <a:off x="0" y="0"/>
              <a:ext cx="1764443" cy="2309817"/>
            </a:xfrm>
            <a:custGeom>
              <a:avLst/>
              <a:gdLst/>
              <a:ahLst/>
              <a:cxnLst/>
              <a:rect r="r" b="b" t="t" l="l"/>
              <a:pathLst>
                <a:path h="2309817" w="1764443">
                  <a:moveTo>
                    <a:pt x="0" y="0"/>
                  </a:moveTo>
                  <a:lnTo>
                    <a:pt x="1764443" y="0"/>
                  </a:lnTo>
                  <a:lnTo>
                    <a:pt x="1764443" y="2309817"/>
                  </a:lnTo>
                  <a:lnTo>
                    <a:pt x="0" y="2309817"/>
                  </a:lnTo>
                  <a:close/>
                </a:path>
              </a:pathLst>
            </a:custGeom>
            <a:blipFill>
              <a:blip r:embed="rId2"/>
              <a:stretch>
                <a:fillRect l="0" t="-255" r="0" b="-255"/>
              </a:stretch>
            </a:blipFill>
          </p:spPr>
        </p:sp>
      </p:grpSp>
      <p:grpSp>
        <p:nvGrpSpPr>
          <p:cNvPr name="Group 4" id="4"/>
          <p:cNvGrpSpPr/>
          <p:nvPr/>
        </p:nvGrpSpPr>
        <p:grpSpPr>
          <a:xfrm rot="0">
            <a:off x="666750" y="666750"/>
            <a:ext cx="8324850" cy="3171825"/>
            <a:chOff x="0" y="0"/>
            <a:chExt cx="11099800" cy="4229100"/>
          </a:xfrm>
        </p:grpSpPr>
        <p:sp>
          <p:nvSpPr>
            <p:cNvPr name="TextBox 5" id="5"/>
            <p:cNvSpPr txBox="true"/>
            <p:nvPr/>
          </p:nvSpPr>
          <p:spPr>
            <a:xfrm rot="0">
              <a:off x="0" y="-9525"/>
              <a:ext cx="110998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ECF0F1"/>
                  </a:solidFill>
                  <a:latin typeface="ITC Avant Garde Gothic"/>
                  <a:ea typeface="ITC Avant Garde Gothic"/>
                  <a:cs typeface="ITC Avant Garde Gothic"/>
                  <a:sym typeface="ITC Avant Garde Gothic"/>
                </a:rPr>
                <a:t>Câu hỏi nào cho các bạn?</a:t>
              </a:r>
            </a:p>
          </p:txBody>
        </p:sp>
        <p:sp>
          <p:nvSpPr>
            <p:cNvPr name="TextBox 6" id="6"/>
            <p:cNvSpPr txBox="true"/>
            <p:nvPr/>
          </p:nvSpPr>
          <p:spPr>
            <a:xfrm rot="0">
              <a:off x="0" y="3514725"/>
              <a:ext cx="11068284" cy="714375"/>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ECF0F1"/>
                  </a:solidFill>
                  <a:latin typeface="ITC Avant Garde Gothic"/>
                  <a:ea typeface="ITC Avant Garde Gothic"/>
                  <a:cs typeface="ITC Avant Garde Gothic"/>
                  <a:sym typeface="ITC Avant Garde Gothic"/>
                </a:rPr>
                <a:t>Chúng tôi rất vui lòng giải đáp thắc mắc!</a:t>
              </a:r>
            </a:p>
          </p:txBody>
        </p:sp>
      </p:grpSp>
      <p:grpSp>
        <p:nvGrpSpPr>
          <p:cNvPr name="Group 7" id="7"/>
          <p:cNvGrpSpPr/>
          <p:nvPr/>
        </p:nvGrpSpPr>
        <p:grpSpPr>
          <a:xfrm rot="0">
            <a:off x="-1303343" y="7829550"/>
            <a:ext cx="4846643" cy="1791955"/>
            <a:chOff x="0" y="0"/>
            <a:chExt cx="6462190" cy="2389273"/>
          </a:xfrm>
        </p:grpSpPr>
        <p:sp>
          <p:nvSpPr>
            <p:cNvPr name="Freeform 8" id="8"/>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Bài thuyết trình - LUYỆN THUẬT TOÁN CƠ BẢN</dc:description>
  <dc:identifier>DAG_uOZVvPc</dc:identifier>
  <dcterms:modified xsi:type="dcterms:W3CDTF">2011-08-01T06:04:30Z</dcterms:modified>
  <cp:revision>1</cp:revision>
  <dc:title>Bài thuyết trình - LUYỆN THUẬT TOÁN CƠ BẢN</dc:title>
</cp:coreProperties>
</file>